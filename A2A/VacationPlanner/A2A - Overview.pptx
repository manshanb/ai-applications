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6"/>
  </p:sldMasterIdLst>
  <p:notesMasterIdLst>
    <p:notesMasterId r:id="rId18"/>
  </p:notesMasterIdLst>
  <p:sldIdLst>
    <p:sldId id="402" r:id="rId7"/>
    <p:sldId id="2062" r:id="rId8"/>
    <p:sldId id="2092" r:id="rId9"/>
    <p:sldId id="2080" r:id="rId10"/>
    <p:sldId id="2091" r:id="rId11"/>
    <p:sldId id="2087" r:id="rId12"/>
    <p:sldId id="2088" r:id="rId13"/>
    <p:sldId id="2090" r:id="rId14"/>
    <p:sldId id="2085" r:id="rId15"/>
    <p:sldId id="2089" r:id="rId16"/>
    <p:sldId id="2074"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9F9F9"/>
    <a:srgbClr val="CBFBD2"/>
    <a:srgbClr val="1031FF"/>
    <a:srgbClr val="000000"/>
    <a:srgbClr val="EDFBE1"/>
    <a:srgbClr val="1A12A0"/>
    <a:srgbClr val="F6F6F6"/>
    <a:srgbClr val="F2F2F2"/>
    <a:srgbClr val="372AED"/>
    <a:srgbClr val="543A9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045"/>
    <p:restoredTop sz="81641"/>
  </p:normalViewPr>
  <p:slideViewPr>
    <p:cSldViewPr snapToGrid="0">
      <p:cViewPr>
        <p:scale>
          <a:sx n="88" d="100"/>
          <a:sy n="88" d="100"/>
        </p:scale>
        <p:origin x="5936" y="21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1.xml"/><Relationship Id="rId11" Type="http://schemas.openxmlformats.org/officeDocument/2006/relationships/slide" Target="slides/slide5.xml"/><Relationship Id="rId5" Type="http://schemas.openxmlformats.org/officeDocument/2006/relationships/customXml" Target="../customXml/item5.xml"/><Relationship Id="rId15" Type="http://schemas.openxmlformats.org/officeDocument/2006/relationships/slide" Target="slides/slide9.xml"/><Relationship Id="rId10" Type="http://schemas.openxmlformats.org/officeDocument/2006/relationships/slide" Target="slides/slide4.xml"/><Relationship Id="rId19" Type="http://schemas.openxmlformats.org/officeDocument/2006/relationships/presProps" Target="presProps.xml"/><Relationship Id="rId4" Type="http://schemas.openxmlformats.org/officeDocument/2006/relationships/customXml" Target="../customXml/item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552212-4E68-E149-B71A-18F37719F36E}" type="datetimeFigureOut">
              <a:rPr lang="en-US" smtClean="0"/>
              <a:t>11/10/25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BB3B4D-084F-4747-B0C9-C57F17F8F814}" type="slidenum">
              <a:rPr lang="en-US" smtClean="0"/>
              <a:t>‹#›</a:t>
            </a:fld>
            <a:endParaRPr lang="en-US"/>
          </a:p>
        </p:txBody>
      </p:sp>
    </p:spTree>
    <p:extLst>
      <p:ext uri="{BB962C8B-B14F-4D97-AF65-F5344CB8AC3E}">
        <p14:creationId xmlns:p14="http://schemas.microsoft.com/office/powerpoint/2010/main" val="19892184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a2a-protocol.org/latest/topics/what-is-a2a/#core-benefits-of-a2a"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D8C2C35-2B8A-446E-BEC0-FD36716C29AC}" type="slidenum">
              <a:rPr lang="en-DE" smtClean="0"/>
              <a:pPr/>
              <a:t>1</a:t>
            </a:fld>
            <a:endParaRPr lang="en-DE"/>
          </a:p>
        </p:txBody>
      </p:sp>
    </p:spTree>
    <p:extLst>
      <p:ext uri="{BB962C8B-B14F-4D97-AF65-F5344CB8AC3E}">
        <p14:creationId xmlns:p14="http://schemas.microsoft.com/office/powerpoint/2010/main" val="23636139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2FC20-4573-B3EF-D96E-CEB5F084BE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13DC26-88C7-533F-D2D2-F3A0AD65C30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12F7FF9-52D4-9B1E-7883-2DA2721AE4B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9F1A42E-84C9-302F-2FC5-4CE988A46832}"/>
              </a:ext>
            </a:extLst>
          </p:cNvPr>
          <p:cNvSpPr>
            <a:spLocks noGrp="1"/>
          </p:cNvSpPr>
          <p:nvPr>
            <p:ph type="sldNum" sz="quarter" idx="5"/>
          </p:nvPr>
        </p:nvSpPr>
        <p:spPr/>
        <p:txBody>
          <a:bodyPr/>
          <a:lstStyle/>
          <a:p>
            <a:fld id="{72BB3B4D-084F-4747-B0C9-C57F17F8F814}" type="slidenum">
              <a:rPr lang="en-US" smtClean="0"/>
              <a:t>4</a:t>
            </a:fld>
            <a:endParaRPr lang="en-US"/>
          </a:p>
        </p:txBody>
      </p:sp>
    </p:spTree>
    <p:extLst>
      <p:ext uri="{BB962C8B-B14F-4D97-AF65-F5344CB8AC3E}">
        <p14:creationId xmlns:p14="http://schemas.microsoft.com/office/powerpoint/2010/main" val="26426307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Core Benefits of A2A</a:t>
            </a:r>
            <a:r>
              <a:rPr lang="en-IN" sz="1200" b="0" i="0" u="none" strike="noStrike" kern="1200" dirty="0">
                <a:solidFill>
                  <a:schemeClr val="tx1"/>
                </a:solidFill>
                <a:effectLst/>
                <a:latin typeface="+mn-lt"/>
                <a:ea typeface="+mn-ea"/>
                <a:cs typeface="+mn-cs"/>
                <a:hlinkClick r:id="rId3" tooltip="Permanent link"/>
              </a:rPr>
              <a:t>¶</a:t>
            </a:r>
            <a:endParaRPr lang="en-IN" sz="1200" b="0" i="0" kern="1200" dirty="0">
              <a:solidFill>
                <a:schemeClr val="tx1"/>
              </a:solidFill>
              <a:effectLst/>
              <a:latin typeface="+mn-lt"/>
              <a:ea typeface="+mn-ea"/>
              <a:cs typeface="+mn-cs"/>
            </a:endParaRPr>
          </a:p>
          <a:p>
            <a:r>
              <a:rPr lang="en-IN" sz="1200" b="0" i="0" kern="1200" dirty="0">
                <a:solidFill>
                  <a:schemeClr val="tx1"/>
                </a:solidFill>
                <a:effectLst/>
                <a:latin typeface="+mn-lt"/>
                <a:ea typeface="+mn-ea"/>
                <a:cs typeface="+mn-cs"/>
              </a:rPr>
              <a:t>Implementing the A2A protocol offers significant advantages across the AI ecosystem:</a:t>
            </a:r>
          </a:p>
          <a:p>
            <a:r>
              <a:rPr lang="en-IN" sz="1200" b="1" i="0" kern="1200" dirty="0">
                <a:solidFill>
                  <a:schemeClr val="tx1"/>
                </a:solidFill>
                <a:effectLst/>
                <a:latin typeface="+mn-lt"/>
                <a:ea typeface="+mn-ea"/>
                <a:cs typeface="+mn-cs"/>
              </a:rPr>
              <a:t>Secure collaboration</a:t>
            </a:r>
            <a:r>
              <a:rPr lang="en-IN" sz="1200" b="0" i="0" kern="1200" dirty="0">
                <a:solidFill>
                  <a:schemeClr val="tx1"/>
                </a:solidFill>
                <a:effectLst/>
                <a:latin typeface="+mn-lt"/>
                <a:ea typeface="+mn-ea"/>
                <a:cs typeface="+mn-cs"/>
              </a:rPr>
              <a:t>: Without a standard, it's difficult to ensure secure communication between agents. A2A uses HTTPS for secure communication and maintains opaque operations, so agents can't see the inner workings of other agents during collaboration.</a:t>
            </a:r>
          </a:p>
          <a:p>
            <a:r>
              <a:rPr lang="en-IN" sz="1200" b="1" i="0" kern="1200" dirty="0">
                <a:solidFill>
                  <a:schemeClr val="tx1"/>
                </a:solidFill>
                <a:effectLst/>
                <a:latin typeface="+mn-lt"/>
                <a:ea typeface="+mn-ea"/>
                <a:cs typeface="+mn-cs"/>
              </a:rPr>
              <a:t>Interoperability</a:t>
            </a:r>
            <a:r>
              <a:rPr lang="en-IN" sz="1200" b="0" i="0" kern="1200" dirty="0">
                <a:solidFill>
                  <a:schemeClr val="tx1"/>
                </a:solidFill>
                <a:effectLst/>
                <a:latin typeface="+mn-lt"/>
                <a:ea typeface="+mn-ea"/>
                <a:cs typeface="+mn-cs"/>
              </a:rPr>
              <a:t>: A2A breaks down silos between different AI agent ecosystems, enabling agents from various vendors and frameworks to work together seamlessly.</a:t>
            </a:r>
          </a:p>
          <a:p>
            <a:r>
              <a:rPr lang="en-IN" sz="1200" b="1" i="0" kern="1200" dirty="0">
                <a:solidFill>
                  <a:schemeClr val="tx1"/>
                </a:solidFill>
                <a:effectLst/>
                <a:latin typeface="+mn-lt"/>
                <a:ea typeface="+mn-ea"/>
                <a:cs typeface="+mn-cs"/>
              </a:rPr>
              <a:t>Agent autonomy</a:t>
            </a:r>
            <a:r>
              <a:rPr lang="en-IN" sz="1200" b="0" i="0" kern="1200" dirty="0">
                <a:solidFill>
                  <a:schemeClr val="tx1"/>
                </a:solidFill>
                <a:effectLst/>
                <a:latin typeface="+mn-lt"/>
                <a:ea typeface="+mn-ea"/>
                <a:cs typeface="+mn-cs"/>
              </a:rPr>
              <a:t>: A2A allows agents to retain their individual capabilities and act as autonomous entities while collaborating with other agents.</a:t>
            </a:r>
          </a:p>
          <a:p>
            <a:r>
              <a:rPr lang="en-IN" sz="1200" b="1" i="0" kern="1200" dirty="0">
                <a:solidFill>
                  <a:schemeClr val="tx1"/>
                </a:solidFill>
                <a:effectLst/>
                <a:latin typeface="+mn-lt"/>
                <a:ea typeface="+mn-ea"/>
                <a:cs typeface="+mn-cs"/>
              </a:rPr>
              <a:t>Reduced integration complexity</a:t>
            </a:r>
            <a:r>
              <a:rPr lang="en-IN" sz="1200" b="0" i="0" kern="1200" dirty="0">
                <a:solidFill>
                  <a:schemeClr val="tx1"/>
                </a:solidFill>
                <a:effectLst/>
                <a:latin typeface="+mn-lt"/>
                <a:ea typeface="+mn-ea"/>
                <a:cs typeface="+mn-cs"/>
              </a:rPr>
              <a:t>: The protocol standardizes agent communication, enabling teams to focus on the unique value their agents provide.</a:t>
            </a:r>
          </a:p>
          <a:p>
            <a:r>
              <a:rPr lang="en-IN" sz="1200" b="1" i="0" kern="1200" dirty="0">
                <a:solidFill>
                  <a:schemeClr val="tx1"/>
                </a:solidFill>
                <a:effectLst/>
                <a:latin typeface="+mn-lt"/>
                <a:ea typeface="+mn-ea"/>
                <a:cs typeface="+mn-cs"/>
              </a:rPr>
              <a:t>Support for LRO</a:t>
            </a:r>
            <a:r>
              <a:rPr lang="en-IN" sz="1200" b="0" i="0" kern="1200" dirty="0">
                <a:solidFill>
                  <a:schemeClr val="tx1"/>
                </a:solidFill>
                <a:effectLst/>
                <a:latin typeface="+mn-lt"/>
                <a:ea typeface="+mn-ea"/>
                <a:cs typeface="+mn-cs"/>
              </a:rPr>
              <a:t>: The protocol supports long-running operations (LRO) and streaming with Server-Sent Events (SSE) and asynchronous execution.</a:t>
            </a:r>
          </a:p>
          <a:p>
            <a:endParaRPr lang="en-US" dirty="0"/>
          </a:p>
        </p:txBody>
      </p:sp>
      <p:sp>
        <p:nvSpPr>
          <p:cNvPr id="4" name="Slide Number Placeholder 3"/>
          <p:cNvSpPr>
            <a:spLocks noGrp="1"/>
          </p:cNvSpPr>
          <p:nvPr>
            <p:ph type="sldNum" sz="quarter" idx="5"/>
          </p:nvPr>
        </p:nvSpPr>
        <p:spPr/>
        <p:txBody>
          <a:bodyPr/>
          <a:lstStyle/>
          <a:p>
            <a:fld id="{72BB3B4D-084F-4747-B0C9-C57F17F8F814}" type="slidenum">
              <a:rPr lang="en-US" smtClean="0"/>
              <a:t>6</a:t>
            </a:fld>
            <a:endParaRPr lang="en-US"/>
          </a:p>
        </p:txBody>
      </p:sp>
    </p:spTree>
    <p:extLst>
      <p:ext uri="{BB962C8B-B14F-4D97-AF65-F5344CB8AC3E}">
        <p14:creationId xmlns:p14="http://schemas.microsoft.com/office/powerpoint/2010/main" val="150600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849F78-1DB3-CF6A-A8AD-EAC09C0E48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ECB4B1-76FA-71E1-F861-4194760697B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907087D-B3BB-96DC-FBB6-9772AC48836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6536131-5036-1FC1-81E3-BC60AD81EBEC}"/>
              </a:ext>
            </a:extLst>
          </p:cNvPr>
          <p:cNvSpPr>
            <a:spLocks noGrp="1"/>
          </p:cNvSpPr>
          <p:nvPr>
            <p:ph type="sldNum" sz="quarter" idx="5"/>
          </p:nvPr>
        </p:nvSpPr>
        <p:spPr/>
        <p:txBody>
          <a:bodyPr/>
          <a:lstStyle/>
          <a:p>
            <a:fld id="{72BB3B4D-084F-4747-B0C9-C57F17F8F814}" type="slidenum">
              <a:rPr lang="en-US" smtClean="0"/>
              <a:t>9</a:t>
            </a:fld>
            <a:endParaRPr lang="en-US"/>
          </a:p>
        </p:txBody>
      </p:sp>
    </p:spTree>
    <p:extLst>
      <p:ext uri="{BB962C8B-B14F-4D97-AF65-F5344CB8AC3E}">
        <p14:creationId xmlns:p14="http://schemas.microsoft.com/office/powerpoint/2010/main" val="12550269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4D531-8E03-E74C-16ED-E8040B51A3D0}"/>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338AFD01-367C-FADD-B982-F49866AFD54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5F0E775-02C4-B892-D6E6-799E79936B8D}"/>
              </a:ext>
            </a:extLst>
          </p:cNvPr>
          <p:cNvSpPr>
            <a:spLocks noGrp="1"/>
          </p:cNvSpPr>
          <p:nvPr>
            <p:ph type="dt" sz="half" idx="10"/>
          </p:nvPr>
        </p:nvSpPr>
        <p:spPr/>
        <p:txBody>
          <a:bodyPr/>
          <a:lstStyle/>
          <a:p>
            <a:fld id="{F71434E4-7911-3D4F-A98F-891D73E69A2F}" type="datetimeFigureOut">
              <a:rPr lang="en-US" smtClean="0"/>
              <a:t>11/10/25</a:t>
            </a:fld>
            <a:endParaRPr lang="en-US"/>
          </a:p>
        </p:txBody>
      </p:sp>
      <p:sp>
        <p:nvSpPr>
          <p:cNvPr id="5" name="Footer Placeholder 4">
            <a:extLst>
              <a:ext uri="{FF2B5EF4-FFF2-40B4-BE49-F238E27FC236}">
                <a16:creationId xmlns:a16="http://schemas.microsoft.com/office/drawing/2014/main" id="{7E6B56FF-130A-B72C-41CA-E586AAE6F2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6C0453-2A19-7F6C-8141-CE633057291B}"/>
              </a:ext>
            </a:extLst>
          </p:cNvPr>
          <p:cNvSpPr>
            <a:spLocks noGrp="1"/>
          </p:cNvSpPr>
          <p:nvPr>
            <p:ph type="sldNum" sz="quarter" idx="12"/>
          </p:nvPr>
        </p:nvSpPr>
        <p:spPr/>
        <p:txBody>
          <a:bodyPr/>
          <a:lstStyle/>
          <a:p>
            <a:fld id="{0422667B-B4F7-1740-8707-491E7D7D5779}" type="slidenum">
              <a:rPr lang="en-US" smtClean="0"/>
              <a:t>‹#›</a:t>
            </a:fld>
            <a:endParaRPr lang="en-US"/>
          </a:p>
        </p:txBody>
      </p:sp>
    </p:spTree>
    <p:extLst>
      <p:ext uri="{BB962C8B-B14F-4D97-AF65-F5344CB8AC3E}">
        <p14:creationId xmlns:p14="http://schemas.microsoft.com/office/powerpoint/2010/main" val="20241199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431B1-322E-E654-FC0C-A282920B33A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0C23CBB8-26DA-22BA-AD39-D84A66E47AFF}"/>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29FE009-EB08-7DCB-56D9-6F344ADDD301}"/>
              </a:ext>
            </a:extLst>
          </p:cNvPr>
          <p:cNvSpPr>
            <a:spLocks noGrp="1"/>
          </p:cNvSpPr>
          <p:nvPr>
            <p:ph type="dt" sz="half" idx="10"/>
          </p:nvPr>
        </p:nvSpPr>
        <p:spPr/>
        <p:txBody>
          <a:bodyPr/>
          <a:lstStyle/>
          <a:p>
            <a:fld id="{F71434E4-7911-3D4F-A98F-891D73E69A2F}" type="datetimeFigureOut">
              <a:rPr lang="en-US" smtClean="0"/>
              <a:t>11/10/25</a:t>
            </a:fld>
            <a:endParaRPr lang="en-US"/>
          </a:p>
        </p:txBody>
      </p:sp>
      <p:sp>
        <p:nvSpPr>
          <p:cNvPr id="5" name="Footer Placeholder 4">
            <a:extLst>
              <a:ext uri="{FF2B5EF4-FFF2-40B4-BE49-F238E27FC236}">
                <a16:creationId xmlns:a16="http://schemas.microsoft.com/office/drawing/2014/main" id="{09410400-1B3C-53F2-8096-41F131CE9D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2E50058-979D-58EA-1395-F6016F31BCE9}"/>
              </a:ext>
            </a:extLst>
          </p:cNvPr>
          <p:cNvSpPr>
            <a:spLocks noGrp="1"/>
          </p:cNvSpPr>
          <p:nvPr>
            <p:ph type="sldNum" sz="quarter" idx="12"/>
          </p:nvPr>
        </p:nvSpPr>
        <p:spPr/>
        <p:txBody>
          <a:bodyPr/>
          <a:lstStyle/>
          <a:p>
            <a:fld id="{0422667B-B4F7-1740-8707-491E7D7D5779}" type="slidenum">
              <a:rPr lang="en-US" smtClean="0"/>
              <a:t>‹#›</a:t>
            </a:fld>
            <a:endParaRPr lang="en-US"/>
          </a:p>
        </p:txBody>
      </p:sp>
    </p:spTree>
    <p:extLst>
      <p:ext uri="{BB962C8B-B14F-4D97-AF65-F5344CB8AC3E}">
        <p14:creationId xmlns:p14="http://schemas.microsoft.com/office/powerpoint/2010/main" val="37021909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8719BA-75F4-684C-0424-F72C748D321D}"/>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D32DE86A-D2E0-5124-DA81-6AF197EC7D1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758B29B-E48E-F0F5-0D89-211031D1323B}"/>
              </a:ext>
            </a:extLst>
          </p:cNvPr>
          <p:cNvSpPr>
            <a:spLocks noGrp="1"/>
          </p:cNvSpPr>
          <p:nvPr>
            <p:ph type="dt" sz="half" idx="10"/>
          </p:nvPr>
        </p:nvSpPr>
        <p:spPr/>
        <p:txBody>
          <a:bodyPr/>
          <a:lstStyle/>
          <a:p>
            <a:fld id="{F71434E4-7911-3D4F-A98F-891D73E69A2F}" type="datetimeFigureOut">
              <a:rPr lang="en-US" smtClean="0"/>
              <a:t>11/10/25</a:t>
            </a:fld>
            <a:endParaRPr lang="en-US"/>
          </a:p>
        </p:txBody>
      </p:sp>
      <p:sp>
        <p:nvSpPr>
          <p:cNvPr id="5" name="Footer Placeholder 4">
            <a:extLst>
              <a:ext uri="{FF2B5EF4-FFF2-40B4-BE49-F238E27FC236}">
                <a16:creationId xmlns:a16="http://schemas.microsoft.com/office/drawing/2014/main" id="{F15F3B42-E9E0-043C-2B54-0E934C6203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0BAE8A-D940-0428-9692-E0F8DFE0038D}"/>
              </a:ext>
            </a:extLst>
          </p:cNvPr>
          <p:cNvSpPr>
            <a:spLocks noGrp="1"/>
          </p:cNvSpPr>
          <p:nvPr>
            <p:ph type="sldNum" sz="quarter" idx="12"/>
          </p:nvPr>
        </p:nvSpPr>
        <p:spPr/>
        <p:txBody>
          <a:bodyPr/>
          <a:lstStyle/>
          <a:p>
            <a:fld id="{0422667B-B4F7-1740-8707-491E7D7D5779}" type="slidenum">
              <a:rPr lang="en-US" smtClean="0"/>
              <a:t>‹#›</a:t>
            </a:fld>
            <a:endParaRPr lang="en-US"/>
          </a:p>
        </p:txBody>
      </p:sp>
    </p:spTree>
    <p:extLst>
      <p:ext uri="{BB962C8B-B14F-4D97-AF65-F5344CB8AC3E}">
        <p14:creationId xmlns:p14="http://schemas.microsoft.com/office/powerpoint/2010/main" val="18495032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15CDB-2A72-8B62-D380-0B82788BDC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653A7F5A-574D-2341-2F50-5D44038C739B}"/>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82498373-CCFC-AA4B-C4BE-3BD4A5A4077E}"/>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A101D8DF-6D6C-40F2-86BD-039465A0AFF7}"/>
              </a:ext>
            </a:extLst>
          </p:cNvPr>
          <p:cNvSpPr>
            <a:spLocks noGrp="1"/>
          </p:cNvSpPr>
          <p:nvPr>
            <p:ph type="dt" sz="half" idx="10"/>
          </p:nvPr>
        </p:nvSpPr>
        <p:spPr/>
        <p:txBody>
          <a:bodyPr/>
          <a:lstStyle/>
          <a:p>
            <a:fld id="{F71434E4-7911-3D4F-A98F-891D73E69A2F}" type="datetimeFigureOut">
              <a:rPr lang="en-US" smtClean="0"/>
              <a:t>11/10/25</a:t>
            </a:fld>
            <a:endParaRPr lang="en-US"/>
          </a:p>
        </p:txBody>
      </p:sp>
      <p:sp>
        <p:nvSpPr>
          <p:cNvPr id="6" name="Footer Placeholder 5">
            <a:extLst>
              <a:ext uri="{FF2B5EF4-FFF2-40B4-BE49-F238E27FC236}">
                <a16:creationId xmlns:a16="http://schemas.microsoft.com/office/drawing/2014/main" id="{BC39246B-AEE6-A395-B4B0-16EF56EACF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F834175-8409-FC0B-FC25-3AF39F870634}"/>
              </a:ext>
            </a:extLst>
          </p:cNvPr>
          <p:cNvSpPr>
            <a:spLocks noGrp="1"/>
          </p:cNvSpPr>
          <p:nvPr>
            <p:ph type="sldNum" sz="quarter" idx="12"/>
          </p:nvPr>
        </p:nvSpPr>
        <p:spPr/>
        <p:txBody>
          <a:bodyPr/>
          <a:lstStyle/>
          <a:p>
            <a:fld id="{0422667B-B4F7-1740-8707-491E7D7D5779}" type="slidenum">
              <a:rPr lang="en-US" smtClean="0"/>
              <a:t>‹#›</a:t>
            </a:fld>
            <a:endParaRPr lang="en-US"/>
          </a:p>
        </p:txBody>
      </p:sp>
    </p:spTree>
    <p:extLst>
      <p:ext uri="{BB962C8B-B14F-4D97-AF65-F5344CB8AC3E}">
        <p14:creationId xmlns:p14="http://schemas.microsoft.com/office/powerpoint/2010/main" val="39381574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88D8B-5F2E-F6C2-240A-EDFA12D54DF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EA1B2906-8212-44CA-135B-EDCF9898D8E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462F857D-B1AD-7333-A9F4-818C279E982A}"/>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C04D8D3E-037C-E7DC-CCFB-3EC9750332E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198A33A9-BB57-668F-A6B2-72755EE03843}"/>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9E742778-4B77-803C-7134-7FFB8126944B}"/>
              </a:ext>
            </a:extLst>
          </p:cNvPr>
          <p:cNvSpPr>
            <a:spLocks noGrp="1"/>
          </p:cNvSpPr>
          <p:nvPr>
            <p:ph type="dt" sz="half" idx="10"/>
          </p:nvPr>
        </p:nvSpPr>
        <p:spPr/>
        <p:txBody>
          <a:bodyPr/>
          <a:lstStyle/>
          <a:p>
            <a:fld id="{F71434E4-7911-3D4F-A98F-891D73E69A2F}" type="datetimeFigureOut">
              <a:rPr lang="en-US" smtClean="0"/>
              <a:t>11/10/25</a:t>
            </a:fld>
            <a:endParaRPr lang="en-US"/>
          </a:p>
        </p:txBody>
      </p:sp>
      <p:sp>
        <p:nvSpPr>
          <p:cNvPr id="8" name="Footer Placeholder 7">
            <a:extLst>
              <a:ext uri="{FF2B5EF4-FFF2-40B4-BE49-F238E27FC236}">
                <a16:creationId xmlns:a16="http://schemas.microsoft.com/office/drawing/2014/main" id="{969D3C06-21B6-64C5-22D5-F14C7C7ED4B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3DCDA41-719E-F167-28D4-482142541713}"/>
              </a:ext>
            </a:extLst>
          </p:cNvPr>
          <p:cNvSpPr>
            <a:spLocks noGrp="1"/>
          </p:cNvSpPr>
          <p:nvPr>
            <p:ph type="sldNum" sz="quarter" idx="12"/>
          </p:nvPr>
        </p:nvSpPr>
        <p:spPr/>
        <p:txBody>
          <a:bodyPr/>
          <a:lstStyle/>
          <a:p>
            <a:fld id="{0422667B-B4F7-1740-8707-491E7D7D5779}" type="slidenum">
              <a:rPr lang="en-US" smtClean="0"/>
              <a:t>‹#›</a:t>
            </a:fld>
            <a:endParaRPr lang="en-US"/>
          </a:p>
        </p:txBody>
      </p:sp>
    </p:spTree>
    <p:extLst>
      <p:ext uri="{BB962C8B-B14F-4D97-AF65-F5344CB8AC3E}">
        <p14:creationId xmlns:p14="http://schemas.microsoft.com/office/powerpoint/2010/main" val="11290948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973FF-2AB3-64E6-F682-7018286F9D6F}"/>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7264CACF-BE5F-1FC1-2B67-977F91DAEDB9}"/>
              </a:ext>
            </a:extLst>
          </p:cNvPr>
          <p:cNvSpPr>
            <a:spLocks noGrp="1"/>
          </p:cNvSpPr>
          <p:nvPr>
            <p:ph type="dt" sz="half" idx="10"/>
          </p:nvPr>
        </p:nvSpPr>
        <p:spPr/>
        <p:txBody>
          <a:bodyPr/>
          <a:lstStyle/>
          <a:p>
            <a:fld id="{F71434E4-7911-3D4F-A98F-891D73E69A2F}" type="datetimeFigureOut">
              <a:rPr lang="en-US" smtClean="0"/>
              <a:t>11/10/25</a:t>
            </a:fld>
            <a:endParaRPr lang="en-US"/>
          </a:p>
        </p:txBody>
      </p:sp>
      <p:sp>
        <p:nvSpPr>
          <p:cNvPr id="4" name="Footer Placeholder 3">
            <a:extLst>
              <a:ext uri="{FF2B5EF4-FFF2-40B4-BE49-F238E27FC236}">
                <a16:creationId xmlns:a16="http://schemas.microsoft.com/office/drawing/2014/main" id="{045D78C0-BE83-BB67-93EF-907097063D3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A25DB49-72E8-5281-8C49-F84766E7E26C}"/>
              </a:ext>
            </a:extLst>
          </p:cNvPr>
          <p:cNvSpPr>
            <a:spLocks noGrp="1"/>
          </p:cNvSpPr>
          <p:nvPr>
            <p:ph type="sldNum" sz="quarter" idx="12"/>
          </p:nvPr>
        </p:nvSpPr>
        <p:spPr/>
        <p:txBody>
          <a:bodyPr/>
          <a:lstStyle/>
          <a:p>
            <a:fld id="{0422667B-B4F7-1740-8707-491E7D7D5779}" type="slidenum">
              <a:rPr lang="en-US" smtClean="0"/>
              <a:t>‹#›</a:t>
            </a:fld>
            <a:endParaRPr lang="en-US"/>
          </a:p>
        </p:txBody>
      </p:sp>
    </p:spTree>
    <p:extLst>
      <p:ext uri="{BB962C8B-B14F-4D97-AF65-F5344CB8AC3E}">
        <p14:creationId xmlns:p14="http://schemas.microsoft.com/office/powerpoint/2010/main" val="18321240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C735049-B7B4-2713-7FD6-FE71BCED1A6C}"/>
              </a:ext>
            </a:extLst>
          </p:cNvPr>
          <p:cNvSpPr>
            <a:spLocks noGrp="1"/>
          </p:cNvSpPr>
          <p:nvPr>
            <p:ph type="dt" sz="half" idx="10"/>
          </p:nvPr>
        </p:nvSpPr>
        <p:spPr/>
        <p:txBody>
          <a:bodyPr/>
          <a:lstStyle/>
          <a:p>
            <a:fld id="{F71434E4-7911-3D4F-A98F-891D73E69A2F}" type="datetimeFigureOut">
              <a:rPr lang="en-US" smtClean="0"/>
              <a:t>11/10/25</a:t>
            </a:fld>
            <a:endParaRPr lang="en-US"/>
          </a:p>
        </p:txBody>
      </p:sp>
      <p:sp>
        <p:nvSpPr>
          <p:cNvPr id="3" name="Footer Placeholder 2">
            <a:extLst>
              <a:ext uri="{FF2B5EF4-FFF2-40B4-BE49-F238E27FC236}">
                <a16:creationId xmlns:a16="http://schemas.microsoft.com/office/drawing/2014/main" id="{75FDB49E-5D3A-4EFE-E453-09FC10254AC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AAB3397-B078-08B4-DC23-98BE653BBF9C}"/>
              </a:ext>
            </a:extLst>
          </p:cNvPr>
          <p:cNvSpPr>
            <a:spLocks noGrp="1"/>
          </p:cNvSpPr>
          <p:nvPr>
            <p:ph type="sldNum" sz="quarter" idx="12"/>
          </p:nvPr>
        </p:nvSpPr>
        <p:spPr/>
        <p:txBody>
          <a:bodyPr/>
          <a:lstStyle/>
          <a:p>
            <a:fld id="{0422667B-B4F7-1740-8707-491E7D7D5779}" type="slidenum">
              <a:rPr lang="en-US" smtClean="0"/>
              <a:t>‹#›</a:t>
            </a:fld>
            <a:endParaRPr lang="en-US"/>
          </a:p>
        </p:txBody>
      </p:sp>
    </p:spTree>
    <p:extLst>
      <p:ext uri="{BB962C8B-B14F-4D97-AF65-F5344CB8AC3E}">
        <p14:creationId xmlns:p14="http://schemas.microsoft.com/office/powerpoint/2010/main" val="33386068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5178F-2303-5A04-159C-2280C5ED19B3}"/>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7647D37E-4659-4B3D-D120-0719A5EDE62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B5EE767F-8B86-4F04-E767-A55E61ECCA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BC178386-9160-01C4-A3D1-8591A4F1089E}"/>
              </a:ext>
            </a:extLst>
          </p:cNvPr>
          <p:cNvSpPr>
            <a:spLocks noGrp="1"/>
          </p:cNvSpPr>
          <p:nvPr>
            <p:ph type="dt" sz="half" idx="10"/>
          </p:nvPr>
        </p:nvSpPr>
        <p:spPr/>
        <p:txBody>
          <a:bodyPr/>
          <a:lstStyle/>
          <a:p>
            <a:fld id="{F71434E4-7911-3D4F-A98F-891D73E69A2F}" type="datetimeFigureOut">
              <a:rPr lang="en-US" smtClean="0"/>
              <a:t>11/10/25</a:t>
            </a:fld>
            <a:endParaRPr lang="en-US"/>
          </a:p>
        </p:txBody>
      </p:sp>
      <p:sp>
        <p:nvSpPr>
          <p:cNvPr id="6" name="Footer Placeholder 5">
            <a:extLst>
              <a:ext uri="{FF2B5EF4-FFF2-40B4-BE49-F238E27FC236}">
                <a16:creationId xmlns:a16="http://schemas.microsoft.com/office/drawing/2014/main" id="{CCCE6E1D-A7CC-786E-542D-95F6438175B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E6DB945-72C0-3BD3-94ED-7736D108C06E}"/>
              </a:ext>
            </a:extLst>
          </p:cNvPr>
          <p:cNvSpPr>
            <a:spLocks noGrp="1"/>
          </p:cNvSpPr>
          <p:nvPr>
            <p:ph type="sldNum" sz="quarter" idx="12"/>
          </p:nvPr>
        </p:nvSpPr>
        <p:spPr/>
        <p:txBody>
          <a:bodyPr/>
          <a:lstStyle/>
          <a:p>
            <a:fld id="{0422667B-B4F7-1740-8707-491E7D7D5779}" type="slidenum">
              <a:rPr lang="en-US" smtClean="0"/>
              <a:t>‹#›</a:t>
            </a:fld>
            <a:endParaRPr lang="en-US"/>
          </a:p>
        </p:txBody>
      </p:sp>
    </p:spTree>
    <p:extLst>
      <p:ext uri="{BB962C8B-B14F-4D97-AF65-F5344CB8AC3E}">
        <p14:creationId xmlns:p14="http://schemas.microsoft.com/office/powerpoint/2010/main" val="13732187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54506E-270A-9B8E-8285-5E9A954A238E}"/>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896AB72F-2F34-A73E-0D5A-3C197E1B4A4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290C4E8-5592-C8AB-4D76-1005F2157F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09653FC-2202-797D-6704-CACFE848BE06}"/>
              </a:ext>
            </a:extLst>
          </p:cNvPr>
          <p:cNvSpPr>
            <a:spLocks noGrp="1"/>
          </p:cNvSpPr>
          <p:nvPr>
            <p:ph type="dt" sz="half" idx="10"/>
          </p:nvPr>
        </p:nvSpPr>
        <p:spPr/>
        <p:txBody>
          <a:bodyPr/>
          <a:lstStyle/>
          <a:p>
            <a:fld id="{F71434E4-7911-3D4F-A98F-891D73E69A2F}" type="datetimeFigureOut">
              <a:rPr lang="en-US" smtClean="0"/>
              <a:t>11/10/25</a:t>
            </a:fld>
            <a:endParaRPr lang="en-US"/>
          </a:p>
        </p:txBody>
      </p:sp>
      <p:sp>
        <p:nvSpPr>
          <p:cNvPr id="6" name="Footer Placeholder 5">
            <a:extLst>
              <a:ext uri="{FF2B5EF4-FFF2-40B4-BE49-F238E27FC236}">
                <a16:creationId xmlns:a16="http://schemas.microsoft.com/office/drawing/2014/main" id="{9CD3921F-88E2-3BBC-B75D-8EA500F80DE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6383CE2-987C-723D-5A71-A303B6350BAF}"/>
              </a:ext>
            </a:extLst>
          </p:cNvPr>
          <p:cNvSpPr>
            <a:spLocks noGrp="1"/>
          </p:cNvSpPr>
          <p:nvPr>
            <p:ph type="sldNum" sz="quarter" idx="12"/>
          </p:nvPr>
        </p:nvSpPr>
        <p:spPr/>
        <p:txBody>
          <a:bodyPr/>
          <a:lstStyle/>
          <a:p>
            <a:fld id="{0422667B-B4F7-1740-8707-491E7D7D5779}" type="slidenum">
              <a:rPr lang="en-US" smtClean="0"/>
              <a:t>‹#›</a:t>
            </a:fld>
            <a:endParaRPr lang="en-US"/>
          </a:p>
        </p:txBody>
      </p:sp>
    </p:spTree>
    <p:extLst>
      <p:ext uri="{BB962C8B-B14F-4D97-AF65-F5344CB8AC3E}">
        <p14:creationId xmlns:p14="http://schemas.microsoft.com/office/powerpoint/2010/main" val="9847973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8D050B-FD2B-5AEF-A703-9EF1415B3BE5}"/>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03F58EDC-0CC6-89D9-4D98-F4B3217D0FCE}"/>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71922CC-B6A2-35C7-7DA2-A922DD590710}"/>
              </a:ext>
            </a:extLst>
          </p:cNvPr>
          <p:cNvSpPr>
            <a:spLocks noGrp="1"/>
          </p:cNvSpPr>
          <p:nvPr>
            <p:ph type="dt" sz="half" idx="10"/>
          </p:nvPr>
        </p:nvSpPr>
        <p:spPr/>
        <p:txBody>
          <a:bodyPr/>
          <a:lstStyle/>
          <a:p>
            <a:fld id="{F71434E4-7911-3D4F-A98F-891D73E69A2F}" type="datetimeFigureOut">
              <a:rPr lang="en-US" smtClean="0"/>
              <a:t>11/10/25</a:t>
            </a:fld>
            <a:endParaRPr lang="en-US"/>
          </a:p>
        </p:txBody>
      </p:sp>
      <p:sp>
        <p:nvSpPr>
          <p:cNvPr id="5" name="Footer Placeholder 4">
            <a:extLst>
              <a:ext uri="{FF2B5EF4-FFF2-40B4-BE49-F238E27FC236}">
                <a16:creationId xmlns:a16="http://schemas.microsoft.com/office/drawing/2014/main" id="{0063C3A8-2867-A967-254A-5695A7F1BBE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6A5AA5-5B1B-F3A7-F3C0-A13D54FAAFC9}"/>
              </a:ext>
            </a:extLst>
          </p:cNvPr>
          <p:cNvSpPr>
            <a:spLocks noGrp="1"/>
          </p:cNvSpPr>
          <p:nvPr>
            <p:ph type="sldNum" sz="quarter" idx="12"/>
          </p:nvPr>
        </p:nvSpPr>
        <p:spPr/>
        <p:txBody>
          <a:bodyPr/>
          <a:lstStyle/>
          <a:p>
            <a:fld id="{0422667B-B4F7-1740-8707-491E7D7D5779}" type="slidenum">
              <a:rPr lang="en-US" smtClean="0"/>
              <a:t>‹#›</a:t>
            </a:fld>
            <a:endParaRPr lang="en-US"/>
          </a:p>
        </p:txBody>
      </p:sp>
    </p:spTree>
    <p:extLst>
      <p:ext uri="{BB962C8B-B14F-4D97-AF65-F5344CB8AC3E}">
        <p14:creationId xmlns:p14="http://schemas.microsoft.com/office/powerpoint/2010/main" val="12728848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566D72A-D7FF-A121-A292-C2A656372478}"/>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BAD8862B-220B-7DC8-2680-13BD790C0664}"/>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658A7AC-8C61-CA6C-9413-883930F84B33}"/>
              </a:ext>
            </a:extLst>
          </p:cNvPr>
          <p:cNvSpPr>
            <a:spLocks noGrp="1"/>
          </p:cNvSpPr>
          <p:nvPr>
            <p:ph type="dt" sz="half" idx="10"/>
          </p:nvPr>
        </p:nvSpPr>
        <p:spPr/>
        <p:txBody>
          <a:bodyPr/>
          <a:lstStyle/>
          <a:p>
            <a:fld id="{F71434E4-7911-3D4F-A98F-891D73E69A2F}" type="datetimeFigureOut">
              <a:rPr lang="en-US" smtClean="0"/>
              <a:t>11/10/25</a:t>
            </a:fld>
            <a:endParaRPr lang="en-US"/>
          </a:p>
        </p:txBody>
      </p:sp>
      <p:sp>
        <p:nvSpPr>
          <p:cNvPr id="5" name="Footer Placeholder 4">
            <a:extLst>
              <a:ext uri="{FF2B5EF4-FFF2-40B4-BE49-F238E27FC236}">
                <a16:creationId xmlns:a16="http://schemas.microsoft.com/office/drawing/2014/main" id="{0EF1469A-B969-06E2-9C49-8591D1C288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835852-F2BB-89D6-7DE3-8EFBCDB0A06B}"/>
              </a:ext>
            </a:extLst>
          </p:cNvPr>
          <p:cNvSpPr>
            <a:spLocks noGrp="1"/>
          </p:cNvSpPr>
          <p:nvPr>
            <p:ph type="sldNum" sz="quarter" idx="12"/>
          </p:nvPr>
        </p:nvSpPr>
        <p:spPr/>
        <p:txBody>
          <a:bodyPr/>
          <a:lstStyle/>
          <a:p>
            <a:fld id="{0422667B-B4F7-1740-8707-491E7D7D5779}" type="slidenum">
              <a:rPr lang="en-US" smtClean="0"/>
              <a:t>‹#›</a:t>
            </a:fld>
            <a:endParaRPr lang="en-US"/>
          </a:p>
        </p:txBody>
      </p:sp>
    </p:spTree>
    <p:extLst>
      <p:ext uri="{BB962C8B-B14F-4D97-AF65-F5344CB8AC3E}">
        <p14:creationId xmlns:p14="http://schemas.microsoft.com/office/powerpoint/2010/main" val="4124206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White cover with blue pattern">
    <p:bg>
      <p:bgRef idx="1001">
        <a:schemeClr val="bg1"/>
      </p:bgRef>
    </p:bg>
    <p:spTree>
      <p:nvGrpSpPr>
        <p:cNvPr id="1" name=""/>
        <p:cNvGrpSpPr/>
        <p:nvPr/>
      </p:nvGrpSpPr>
      <p:grpSpPr>
        <a:xfrm>
          <a:off x="0" y="0"/>
          <a:ext cx="0" cy="0"/>
          <a:chOff x="0" y="0"/>
          <a:chExt cx="0" cy="0"/>
        </a:xfrm>
      </p:grpSpPr>
      <p:sp>
        <p:nvSpPr>
          <p:cNvPr id="2" name="Background">
            <a:extLst>
              <a:ext uri="{FF2B5EF4-FFF2-40B4-BE49-F238E27FC236}">
                <a16:creationId xmlns:a16="http://schemas.microsoft.com/office/drawing/2014/main" id="{369E6551-269A-D225-4CF8-EC6D532E4902}"/>
              </a:ext>
            </a:extLst>
          </p:cNvPr>
          <p:cNvSpPr/>
          <p:nvPr userDrawn="1"/>
        </p:nvSpPr>
        <p:spPr bwMode="gray">
          <a:xfrm>
            <a:off x="0" y="0"/>
            <a:ext cx="12192000" cy="6858000"/>
          </a:xfrm>
          <a:prstGeom prst="rect">
            <a:avLst/>
          </a:prstGeom>
          <a:solidFill>
            <a:schemeClr val="bg1"/>
          </a:solidFill>
          <a:ln w="15238" cap="flat">
            <a:noFill/>
            <a:prstDash val="solid"/>
            <a:miter/>
          </a:ln>
        </p:spPr>
        <p:txBody>
          <a:bodyPr lIns="89977" tIns="71981" rIns="89977" bIns="71981" rtlCol="0" anchor="ctr"/>
          <a:lstStyle/>
          <a:p>
            <a:pPr marR="0" algn="ctr" defTabSz="914126" eaLnBrk="1" fontAlgn="base" latinLnBrk="0" hangingPunct="1">
              <a:lnSpc>
                <a:spcPct val="100000"/>
              </a:lnSpc>
              <a:spcBef>
                <a:spcPct val="50000"/>
              </a:spcBef>
              <a:spcAft>
                <a:spcPct val="0"/>
              </a:spcAft>
              <a:buClr>
                <a:srgbClr val="F0AB00"/>
              </a:buClr>
              <a:buSzPct val="80000"/>
              <a:tabLst/>
            </a:pPr>
            <a:endParaRPr kumimoji="0" lang="en-US" sz="1799" b="0" i="0" u="none" strike="noStrike" kern="0" cap="none" spc="0" normalizeH="0" baseline="0" noProof="0">
              <a:ln>
                <a:noFill/>
              </a:ln>
              <a:effectLst/>
              <a:uLnTx/>
              <a:uFillTx/>
              <a:latin typeface="72 Brand" panose="020B0504030603020204" pitchFamily="34" charset="0"/>
              <a:ea typeface="72 Brand" pitchFamily="34" charset="-128"/>
              <a:cs typeface="72 Brand" pitchFamily="34" charset="-128"/>
            </a:endParaRPr>
          </a:p>
        </p:txBody>
      </p:sp>
      <p:sp>
        <p:nvSpPr>
          <p:cNvPr id="4" name="Title"/>
          <p:cNvSpPr>
            <a:spLocks noGrp="1"/>
          </p:cNvSpPr>
          <p:nvPr>
            <p:ph type="title" hasCustomPrompt="1"/>
          </p:nvPr>
        </p:nvSpPr>
        <p:spPr>
          <a:xfrm>
            <a:off x="287925" y="2706317"/>
            <a:ext cx="5439871" cy="997196"/>
          </a:xfrm>
        </p:spPr>
        <p:txBody>
          <a:bodyPr anchor="b" anchorCtr="0">
            <a:noAutofit/>
          </a:bodyPr>
          <a:lstStyle>
            <a:lvl1pPr>
              <a:lnSpc>
                <a:spcPct val="90000"/>
              </a:lnSpc>
              <a:defRPr sz="3599" b="0" i="0">
                <a:latin typeface="+mj-lt"/>
                <a:cs typeface="72" panose="020B0503030000000003" pitchFamily="34" charset="0"/>
              </a:defRPr>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599" kern="0" err="1">
              <a:ea typeface="72 Brand" pitchFamily="34" charset="-128"/>
              <a:cs typeface="72 Brand" pitchFamily="34" charset="-128"/>
            </a:endParaRPr>
          </a:p>
        </p:txBody>
      </p:sp>
      <p:sp>
        <p:nvSpPr>
          <p:cNvPr id="3" name="Picture Placeholder 2">
            <a:extLst>
              <a:ext uri="{FF2B5EF4-FFF2-40B4-BE49-F238E27FC236}">
                <a16:creationId xmlns:a16="http://schemas.microsoft.com/office/drawing/2014/main" id="{DE73D104-EF7E-A0AB-2243-882D65E686E2}"/>
              </a:ext>
            </a:extLst>
          </p:cNvPr>
          <p:cNvSpPr>
            <a:spLocks noGrp="1"/>
          </p:cNvSpPr>
          <p:nvPr>
            <p:ph type="pic" sz="quarter" idx="15" hasCustomPrompt="1"/>
          </p:nvPr>
        </p:nvSpPr>
        <p:spPr>
          <a:xfrm>
            <a:off x="6073781" y="0"/>
            <a:ext cx="6118219" cy="6858000"/>
          </a:xfrm>
        </p:spPr>
        <p:txBody>
          <a:bodyPr anchor="ctr" anchorCtr="0"/>
          <a:lstStyle>
            <a:lvl1pPr algn="ctr">
              <a:defRPr/>
            </a:lvl1pPr>
          </a:lstStyle>
          <a:p>
            <a:r>
              <a:rPr lang="en-US"/>
              <a:t>Click to insert picture</a:t>
            </a:r>
          </a:p>
        </p:txBody>
      </p:sp>
      <p:pic>
        <p:nvPicPr>
          <p:cNvPr id="581112682" name="LogoBlue-Dynamic" descr="{&quot;templafy&quot;:{&quot;id&quot;:&quot;99492c87-f00e-4adf-90df-be3ca6debb42&quot;}}"/>
          <p:cNvPicPr>
            <a:picLocks noChangeAspect="1"/>
          </p:cNvPicPr>
          <p:nvPr/>
        </p:nvPicPr>
        <p:blipFill>
          <a:blip r:embed="rId2"/>
          <a:stretch>
            <a:fillRect/>
          </a:stretch>
        </p:blipFill>
        <p:spPr>
          <a:xfrm>
            <a:off x="287931" y="360000"/>
            <a:ext cx="727003" cy="360000"/>
          </a:xfrm>
          <a:prstGeom prst="rect">
            <a:avLst/>
          </a:prstGeom>
        </p:spPr>
      </p:pic>
      <p:sp>
        <p:nvSpPr>
          <p:cNvPr id="6" name="Classification-Dynamic" descr="{&quot;templafy&quot;:{&quot;id&quot;:&quot;e17e7b5c-90dd-45dc-9c37-b54dc6ea99e6&quot;}}">
            <a:extLst>
              <a:ext uri="{FF2B5EF4-FFF2-40B4-BE49-F238E27FC236}">
                <a16:creationId xmlns:a16="http://schemas.microsoft.com/office/drawing/2014/main" id="{870EB466-B92B-9D4D-974E-A49C0F424152}"/>
              </a:ext>
            </a:extLst>
          </p:cNvPr>
          <p:cNvSpPr txBox="1"/>
          <p:nvPr userDrawn="1"/>
        </p:nvSpPr>
        <p:spPr>
          <a:xfrm>
            <a:off x="282501" y="5080814"/>
            <a:ext cx="4984814"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r>
              <a:rPr lang="en-US" sz="1000" b="0" i="0" kern="0">
                <a:solidFill>
                  <a:schemeClr val="tx1"/>
                </a:solidFill>
                <a:latin typeface="72 Brand" panose="020B0504030603020204" pitchFamily="34" charset="0"/>
                <a:ea typeface="72 Brand" pitchFamily="34" charset="-128"/>
                <a:cs typeface="72 Brand" pitchFamily="34" charset="-128"/>
              </a:rPr>
              <a:t>INTERNAL – SAP and Customers Only</a:t>
            </a:r>
          </a:p>
        </p:txBody>
      </p:sp>
    </p:spTree>
    <p:extLst>
      <p:ext uri="{BB962C8B-B14F-4D97-AF65-F5344CB8AC3E}">
        <p14:creationId xmlns:p14="http://schemas.microsoft.com/office/powerpoint/2010/main" val="236294504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81">
          <p15:clr>
            <a:srgbClr val="FBAE40"/>
          </p15:clr>
        </p15:guide>
        <p15:guide id="2" orient="horz" pos="1701">
          <p15:clr>
            <a:srgbClr val="FBAE40"/>
          </p15:clr>
        </p15:guide>
        <p15:guide id="3" orient="horz" pos="2704">
          <p15:clr>
            <a:srgbClr val="FBAE40"/>
          </p15:clr>
        </p15:guide>
        <p15:guide id="4" orient="horz" pos="2334">
          <p15:clr>
            <a:srgbClr val="FBAE40"/>
          </p15:clr>
        </p15:guide>
        <p15:guide id="5" orient="horz" pos="2999">
          <p15:clr>
            <a:srgbClr val="FBAE40"/>
          </p15:clr>
        </p15:guide>
        <p15:guide id="7" orient="horz" pos="4144">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9847A67-88DF-1D13-7470-F6867D01091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F2F06CD6-6979-EFE9-C70F-D6EFDE45512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DEFA7D08-3875-4551-8B46-BC664945561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71434E4-7911-3D4F-A98F-891D73E69A2F}" type="datetimeFigureOut">
              <a:rPr lang="en-US" smtClean="0"/>
              <a:t>11/10/25</a:t>
            </a:fld>
            <a:endParaRPr lang="en-US"/>
          </a:p>
        </p:txBody>
      </p:sp>
      <p:sp>
        <p:nvSpPr>
          <p:cNvPr id="5" name="Footer Placeholder 4">
            <a:extLst>
              <a:ext uri="{FF2B5EF4-FFF2-40B4-BE49-F238E27FC236}">
                <a16:creationId xmlns:a16="http://schemas.microsoft.com/office/drawing/2014/main" id="{7B885704-1E1E-EEE6-B8FC-945F46F4A02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3587E85-D673-AD89-4491-D8E4112FFCD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422667B-B4F7-1740-8707-491E7D7D5779}" type="slidenum">
              <a:rPr lang="en-US" smtClean="0"/>
              <a:t>‹#›</a:t>
            </a:fld>
            <a:endParaRPr lang="en-US"/>
          </a:p>
        </p:txBody>
      </p:sp>
    </p:spTree>
    <p:extLst>
      <p:ext uri="{BB962C8B-B14F-4D97-AF65-F5344CB8AC3E}">
        <p14:creationId xmlns:p14="http://schemas.microsoft.com/office/powerpoint/2010/main" val="10903296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customXml" Target="../../customXml/item1.xml"/><Relationship Id="rId1" Type="http://schemas.openxmlformats.org/officeDocument/2006/relationships/customXml" Target="../../customXml/item2.xml"/><Relationship Id="rId5"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192.168.11.22/" TargetMode="External"/><Relationship Id="rId2" Type="http://schemas.openxmlformats.org/officeDocument/2006/relationships/hyperlink" Target="https://192.168.33.23/" TargetMode="External"/><Relationship Id="rId1" Type="http://schemas.openxmlformats.org/officeDocument/2006/relationships/slideLayout" Target="../slideLayouts/slideLayout2.xml"/><Relationship Id="rId4" Type="http://schemas.openxmlformats.org/officeDocument/2006/relationships/hyperlink" Target="https://192.168.11.22/"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134752C8-1E80-B141-5BC9-264FD3E5257B}"/>
              </a:ext>
            </a:extLst>
          </p:cNvPr>
          <p:cNvSpPr>
            <a:spLocks noGrp="1"/>
          </p:cNvSpPr>
          <p:nvPr>
            <p:ph type="title"/>
          </p:nvPr>
        </p:nvSpPr>
        <p:spPr>
          <a:xfrm>
            <a:off x="141621" y="2554742"/>
            <a:ext cx="5439871" cy="997196"/>
          </a:xfrm>
        </p:spPr>
        <p:txBody>
          <a:bodyPr/>
          <a:lstStyle/>
          <a:p>
            <a:r>
              <a:rPr lang="en-US" sz="2800" b="1" dirty="0">
                <a:latin typeface="72 Brand" panose="020B0504030603020204" pitchFamily="34" charset="0"/>
              </a:rPr>
              <a:t>A2A Protocol (Agent to Agent)</a:t>
            </a:r>
            <a:br>
              <a:rPr lang="en-US" sz="2800" b="1" dirty="0">
                <a:latin typeface="72 Brand" panose="020B0504030603020204" pitchFamily="34" charset="0"/>
              </a:rPr>
            </a:br>
            <a:br>
              <a:rPr lang="en-US" sz="3600" b="1" dirty="0">
                <a:latin typeface="72 Brand" panose="020B0504030603020204" pitchFamily="34" charset="0"/>
              </a:rPr>
            </a:br>
            <a:r>
              <a:rPr lang="en-US" sz="2000" dirty="0">
                <a:latin typeface="72 Brand" panose="020B0504030603020204" pitchFamily="34" charset="0"/>
              </a:rPr>
              <a:t>Overview</a:t>
            </a:r>
            <a:endParaRPr lang="en-US" sz="3600" dirty="0">
              <a:latin typeface="72 Brand" panose="020B0504030603020204" pitchFamily="34" charset="0"/>
            </a:endParaRPr>
          </a:p>
        </p:txBody>
      </p:sp>
      <p:sp>
        <p:nvSpPr>
          <p:cNvPr id="2" name="Spaker name - Dynamic" descr="{&quot;templafy&quot;:{&quot;id&quot;:&quot;3c7f116c-1b39-4f6b-84a3-f816508792b7&quot;}}">
            <a:extLst>
              <a:ext uri="{FF2B5EF4-FFF2-40B4-BE49-F238E27FC236}">
                <a16:creationId xmlns:a16="http://schemas.microsoft.com/office/drawing/2014/main" id="{E0BFCFDD-1D42-358F-BC70-8570C4C662EF}"/>
              </a:ext>
            </a:extLst>
          </p:cNvPr>
          <p:cNvSpPr txBox="1">
            <a:spLocks/>
          </p:cNvSpPr>
          <p:nvPr/>
        </p:nvSpPr>
        <p:spPr>
          <a:xfrm>
            <a:off x="287263" y="4303258"/>
            <a:ext cx="5400830" cy="223090"/>
          </a:xfrm>
          <a:prstGeom prst="rect">
            <a:avLst/>
          </a:prstGeom>
          <a:noFill/>
        </p:spPr>
        <p:txBody>
          <a:bodyPr wrap="square" lIns="0" tIns="0" rIns="0" bIns="0" rtlCol="0" anchor="b" anchorCtr="0">
            <a:noAutofit/>
          </a:bodyPr>
          <a:lstStyle/>
          <a:p>
            <a:pPr algn="l"/>
            <a:r>
              <a:rPr lang="en-US" sz="1400" dirty="0">
                <a:latin typeface="72 Brand" panose="020B0504030603020204" pitchFamily="34" charset="0"/>
                <a:cs typeface="72" panose="020B0503030000000003" pitchFamily="34" charset="0"/>
              </a:rPr>
              <a:t>Mangesh Shanbhag</a:t>
            </a:r>
          </a:p>
        </p:txBody>
      </p:sp>
      <p:sp>
        <p:nvSpPr>
          <p:cNvPr id="3" name="Date - Dynamic" descr="{&quot;templafy&quot;:{&quot;id&quot;:&quot;37eb88bf-210f-4b98-b38e-ca22163c886e&quot;}}">
            <a:extLst>
              <a:ext uri="{FF2B5EF4-FFF2-40B4-BE49-F238E27FC236}">
                <a16:creationId xmlns:a16="http://schemas.microsoft.com/office/drawing/2014/main" id="{9E1171E2-38D8-8239-71E9-69DC21FF73B2}"/>
              </a:ext>
            </a:extLst>
          </p:cNvPr>
          <p:cNvSpPr txBox="1">
            <a:spLocks/>
          </p:cNvSpPr>
          <p:nvPr/>
        </p:nvSpPr>
        <p:spPr>
          <a:xfrm>
            <a:off x="287925" y="4533971"/>
            <a:ext cx="5400830" cy="223090"/>
          </a:xfrm>
          <a:prstGeom prst="rect">
            <a:avLst/>
          </a:prstGeom>
          <a:noFill/>
        </p:spPr>
        <p:txBody>
          <a:bodyPr wrap="square" lIns="0" tIns="0" rIns="0" bIns="0" rtlCol="0" anchor="b" anchorCtr="0">
            <a:noAutofit/>
          </a:bodyPr>
          <a:lstStyle/>
          <a:p>
            <a:pPr algn="l"/>
            <a:endParaRPr lang="en-US" sz="1400">
              <a:latin typeface="72 Brand" panose="020B0504030603020204" pitchFamily="34" charset="0"/>
              <a:cs typeface="72" panose="020B0503030000000003" pitchFamily="34" charset="0"/>
            </a:endParaRPr>
          </a:p>
        </p:txBody>
      </p:sp>
      <p:pic>
        <p:nvPicPr>
          <p:cNvPr id="18" name="Picture Placeholder 14">
            <a:extLst>
              <a:ext uri="{FF2B5EF4-FFF2-40B4-BE49-F238E27FC236}">
                <a16:creationId xmlns:a16="http://schemas.microsoft.com/office/drawing/2014/main" id="{6D39BC90-CF11-3E9B-D0F0-AE61667F4A13}"/>
              </a:ext>
              <a:ext uri="{C183D7F6-B498-43B3-948B-1728B52AA6E4}">
                <adec:decorative xmlns:adec="http://schemas.microsoft.com/office/drawing/2017/decorative" val="1"/>
              </a:ext>
            </a:extLst>
          </p:cNvPr>
          <p:cNvPicPr>
            <a:picLocks noGrp="1" noChangeAspect="1"/>
          </p:cNvPicPr>
          <p:nvPr>
            <p:ph type="pic" sz="quarter" idx="15"/>
          </p:nvPr>
        </p:nvPicPr>
        <p:blipFill rotWithShape="1">
          <a:blip r:embed="rId5" cstate="screen">
            <a:extLst>
              <a:ext uri="{28A0092B-C50C-407E-A947-70E740481C1C}">
                <a14:useLocalDpi xmlns:a14="http://schemas.microsoft.com/office/drawing/2010/main"/>
              </a:ext>
            </a:extLst>
          </a:blip>
          <a:srcRect t="195" b="195"/>
          <a:stretch/>
        </p:blipFill>
        <p:spPr bwMode="black">
          <a:prstGeom prst="rect">
            <a:avLst/>
          </a:prstGeom>
        </p:spPr>
      </p:pic>
    </p:spTree>
    <p:custDataLst>
      <p:custData r:id="rId1"/>
      <p:custData r:id="rId2"/>
    </p:custDataLst>
    <p:extLst>
      <p:ext uri="{BB962C8B-B14F-4D97-AF65-F5344CB8AC3E}">
        <p14:creationId xmlns:p14="http://schemas.microsoft.com/office/powerpoint/2010/main" val="33168741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538DF-16BB-9B8A-ECF4-2B73B5276C92}"/>
              </a:ext>
            </a:extLst>
          </p:cNvPr>
          <p:cNvSpPr>
            <a:spLocks noGrp="1"/>
          </p:cNvSpPr>
          <p:nvPr>
            <p:ph type="title"/>
          </p:nvPr>
        </p:nvSpPr>
        <p:spPr>
          <a:xfrm>
            <a:off x="503869" y="96982"/>
            <a:ext cx="10515600" cy="1325563"/>
          </a:xfrm>
        </p:spPr>
        <p:txBody>
          <a:bodyPr>
            <a:normAutofit/>
          </a:bodyPr>
          <a:lstStyle/>
          <a:p>
            <a:r>
              <a:rPr lang="en-US" sz="3200">
                <a:solidFill>
                  <a:srgbClr val="000000"/>
                </a:solidFill>
                <a:latin typeface="72 Brand Medium" panose="020B0504030603020204" pitchFamily="34" charset="0"/>
              </a:rPr>
              <a:t>Disclaimer</a:t>
            </a:r>
            <a:endParaRPr lang="en-DE" sz="3200"/>
          </a:p>
        </p:txBody>
      </p:sp>
      <p:sp>
        <p:nvSpPr>
          <p:cNvPr id="3" name="Text Placeholder 2">
            <a:extLst>
              <a:ext uri="{FF2B5EF4-FFF2-40B4-BE49-F238E27FC236}">
                <a16:creationId xmlns:a16="http://schemas.microsoft.com/office/drawing/2014/main" id="{5DE98171-E717-B1A3-24B6-D45958A7F797}"/>
              </a:ext>
            </a:extLst>
          </p:cNvPr>
          <p:cNvSpPr txBox="1">
            <a:spLocks/>
          </p:cNvSpPr>
          <p:nvPr/>
        </p:nvSpPr>
        <p:spPr>
          <a:xfrm>
            <a:off x="503869" y="1620471"/>
            <a:ext cx="11183565" cy="4228899"/>
          </a:xfrm>
          <a:prstGeom prst="rect">
            <a:avLst/>
          </a:prstGeom>
        </p:spPr>
        <p:txBody>
          <a:bodyPr/>
          <a:lstStyle>
            <a:lvl1pPr marL="0" indent="0" algn="l" defTabSz="1088558" rtl="0" eaLnBrk="1" latinLnBrk="0" hangingPunct="1">
              <a:spcBef>
                <a:spcPts val="1800"/>
              </a:spcBef>
              <a:buClr>
                <a:schemeClr val="accent1"/>
              </a:buClr>
              <a:buSzPct val="80000"/>
              <a:buFontTx/>
              <a:buNone/>
              <a:defRPr sz="20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marL="0" lvl="1" indent="0">
              <a:buNone/>
            </a:pPr>
            <a:r>
              <a:rPr lang="en-US" sz="1400"/>
              <a:t>The information in this presentation is confidential and proprietary to SAP and may not be disclosed without the permission of SAP. </a:t>
            </a:r>
            <a:br>
              <a:rPr lang="en-US" sz="1400"/>
            </a:br>
            <a:r>
              <a:rPr lang="en-US" sz="1400"/>
              <a:t>Except for your obligation to protect confidential information, this presentation is not subject to your license agreement or any other service </a:t>
            </a:r>
            <a:br>
              <a:rPr lang="en-US" sz="1400"/>
            </a:br>
            <a:r>
              <a:rPr lang="en-US" sz="1400"/>
              <a:t>or subscription agreement with SAP. SAP has no obligation to pursue any course of business outlined in this presentation or any related document, or to develop or release any functionality mentioned therein.</a:t>
            </a:r>
          </a:p>
          <a:p>
            <a:pPr marL="0" lvl="1" indent="0">
              <a:buNone/>
            </a:pPr>
            <a:r>
              <a:rPr lang="en-US" sz="1400"/>
              <a:t>This presentation, or any related document and SAP's strategy and possible future developments, products and or platforms directions and functionality are all subject to change and may be changed by SAP at any time for any reason without notice. The information in this presentation is not a commitment, promise or legal obligation to deliver any material, code or functionality.  This presentation is provided without a warranty of any kind, either express or implied, including but not limited to, the implied warranties of merchantability, fitness for a particular purpose, or non-infringement. This presentation is for informational purposes and may not be incorporated into a contract. SAP assumes no responsibility for errors or omissions in this presentation, except if such damages were caused by SAP’s intentional or gross negligence.</a:t>
            </a:r>
          </a:p>
          <a:p>
            <a:pPr marL="0" lvl="1" indent="0">
              <a:buNone/>
            </a:pPr>
            <a:r>
              <a:rPr lang="en-US" sz="1400"/>
              <a:t>All forward-looking statements are subject to various risks and uncertainties that could cause actual results to differ materially from expectations. Readers are cautioned not to place undue reliance on these forward-looking statements, which speak only as of their dates, </a:t>
            </a:r>
            <a:br>
              <a:rPr lang="en-US" sz="1400"/>
            </a:br>
            <a:r>
              <a:rPr lang="en-US" sz="1400"/>
              <a:t>and they should not be relied upon in making purchasing decisions.</a:t>
            </a:r>
          </a:p>
        </p:txBody>
      </p:sp>
    </p:spTree>
    <p:extLst>
      <p:ext uri="{BB962C8B-B14F-4D97-AF65-F5344CB8AC3E}">
        <p14:creationId xmlns:p14="http://schemas.microsoft.com/office/powerpoint/2010/main" val="21339089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The Architectural Elegance of Model Context Protocol (MCP) - The ML  Architect">
            <a:extLst>
              <a:ext uri="{FF2B5EF4-FFF2-40B4-BE49-F238E27FC236}">
                <a16:creationId xmlns:a16="http://schemas.microsoft.com/office/drawing/2014/main" id="{D40A4FC3-442F-94CE-721F-5554E65828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9142" y="1103855"/>
            <a:ext cx="10849287" cy="441599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74A074B-F9E2-9BF8-D639-986C06997CC4}"/>
              </a:ext>
            </a:extLst>
          </p:cNvPr>
          <p:cNvSpPr txBox="1"/>
          <p:nvPr/>
        </p:nvSpPr>
        <p:spPr>
          <a:xfrm>
            <a:off x="6266985" y="2129883"/>
            <a:ext cx="1092820" cy="261610"/>
          </a:xfrm>
          <a:prstGeom prst="rect">
            <a:avLst/>
          </a:prstGeom>
          <a:solidFill>
            <a:schemeClr val="bg1"/>
          </a:solidFill>
        </p:spPr>
        <p:txBody>
          <a:bodyPr wrap="square" rtlCol="0">
            <a:spAutoFit/>
          </a:bodyPr>
          <a:lstStyle/>
          <a:p>
            <a:pPr algn="ctr"/>
            <a:r>
              <a:rPr lang="en-US" sz="1100" dirty="0">
                <a:solidFill>
                  <a:schemeClr val="accent6">
                    <a:lumMod val="50000"/>
                  </a:schemeClr>
                </a:solidFill>
              </a:rPr>
              <a:t>MCP Server1</a:t>
            </a:r>
          </a:p>
        </p:txBody>
      </p:sp>
      <p:sp>
        <p:nvSpPr>
          <p:cNvPr id="4" name="TextBox 3">
            <a:extLst>
              <a:ext uri="{FF2B5EF4-FFF2-40B4-BE49-F238E27FC236}">
                <a16:creationId xmlns:a16="http://schemas.microsoft.com/office/drawing/2014/main" id="{2E351B97-4B01-CA14-F9B6-A5CCF708C11D}"/>
              </a:ext>
            </a:extLst>
          </p:cNvPr>
          <p:cNvSpPr txBox="1"/>
          <p:nvPr/>
        </p:nvSpPr>
        <p:spPr>
          <a:xfrm>
            <a:off x="6266985" y="3155911"/>
            <a:ext cx="1092820" cy="430887"/>
          </a:xfrm>
          <a:prstGeom prst="rect">
            <a:avLst/>
          </a:prstGeom>
          <a:solidFill>
            <a:schemeClr val="bg1"/>
          </a:solidFill>
        </p:spPr>
        <p:txBody>
          <a:bodyPr wrap="square" rtlCol="0">
            <a:spAutoFit/>
          </a:bodyPr>
          <a:lstStyle/>
          <a:p>
            <a:pPr algn="ctr"/>
            <a:r>
              <a:rPr lang="en-US" sz="1100" dirty="0">
                <a:solidFill>
                  <a:schemeClr val="accent4">
                    <a:lumMod val="75000"/>
                  </a:schemeClr>
                </a:solidFill>
              </a:rPr>
              <a:t>MCP Server2</a:t>
            </a:r>
          </a:p>
          <a:p>
            <a:pPr algn="ctr"/>
            <a:endParaRPr lang="en-US" sz="1100" dirty="0">
              <a:solidFill>
                <a:schemeClr val="accent4">
                  <a:lumMod val="75000"/>
                </a:schemeClr>
              </a:solidFill>
            </a:endParaRPr>
          </a:p>
        </p:txBody>
      </p:sp>
      <p:sp>
        <p:nvSpPr>
          <p:cNvPr id="5" name="TextBox 4">
            <a:extLst>
              <a:ext uri="{FF2B5EF4-FFF2-40B4-BE49-F238E27FC236}">
                <a16:creationId xmlns:a16="http://schemas.microsoft.com/office/drawing/2014/main" id="{B2F1B80E-1E2B-A1D0-4C68-E1B1E87390DA}"/>
              </a:ext>
            </a:extLst>
          </p:cNvPr>
          <p:cNvSpPr txBox="1"/>
          <p:nvPr/>
        </p:nvSpPr>
        <p:spPr>
          <a:xfrm>
            <a:off x="6266985" y="4102319"/>
            <a:ext cx="1092820" cy="430887"/>
          </a:xfrm>
          <a:prstGeom prst="rect">
            <a:avLst/>
          </a:prstGeom>
          <a:solidFill>
            <a:schemeClr val="bg1"/>
          </a:solidFill>
        </p:spPr>
        <p:txBody>
          <a:bodyPr wrap="square" rtlCol="0">
            <a:spAutoFit/>
          </a:bodyPr>
          <a:lstStyle/>
          <a:p>
            <a:pPr algn="ctr"/>
            <a:br>
              <a:rPr lang="en-US" sz="1100" dirty="0">
                <a:solidFill>
                  <a:srgbClr val="7030A0"/>
                </a:solidFill>
              </a:rPr>
            </a:br>
            <a:r>
              <a:rPr lang="en-US" sz="1100" dirty="0">
                <a:solidFill>
                  <a:srgbClr val="7030A0"/>
                </a:solidFill>
              </a:rPr>
              <a:t>MCP Server3</a:t>
            </a:r>
          </a:p>
        </p:txBody>
      </p:sp>
      <p:sp>
        <p:nvSpPr>
          <p:cNvPr id="6" name="TextBox 5">
            <a:extLst>
              <a:ext uri="{FF2B5EF4-FFF2-40B4-BE49-F238E27FC236}">
                <a16:creationId xmlns:a16="http://schemas.microsoft.com/office/drawing/2014/main" id="{EBB2FC65-E7B2-5B7B-92A3-29A6AA45FA1C}"/>
              </a:ext>
            </a:extLst>
          </p:cNvPr>
          <p:cNvSpPr txBox="1"/>
          <p:nvPr/>
        </p:nvSpPr>
        <p:spPr>
          <a:xfrm>
            <a:off x="9162585" y="2129883"/>
            <a:ext cx="1092820" cy="261610"/>
          </a:xfrm>
          <a:prstGeom prst="rect">
            <a:avLst/>
          </a:prstGeom>
          <a:solidFill>
            <a:srgbClr val="F9F9F9"/>
          </a:solidFill>
        </p:spPr>
        <p:txBody>
          <a:bodyPr wrap="square" rtlCol="0">
            <a:spAutoFit/>
          </a:bodyPr>
          <a:lstStyle/>
          <a:p>
            <a:pPr algn="ctr"/>
            <a:r>
              <a:rPr lang="en-US" sz="1100" dirty="0">
                <a:solidFill>
                  <a:schemeClr val="accent6">
                    <a:lumMod val="50000"/>
                  </a:schemeClr>
                </a:solidFill>
              </a:rPr>
              <a:t>API</a:t>
            </a:r>
          </a:p>
        </p:txBody>
      </p:sp>
      <p:sp>
        <p:nvSpPr>
          <p:cNvPr id="7" name="TextBox 6">
            <a:extLst>
              <a:ext uri="{FF2B5EF4-FFF2-40B4-BE49-F238E27FC236}">
                <a16:creationId xmlns:a16="http://schemas.microsoft.com/office/drawing/2014/main" id="{E0484DD8-D66F-9F4D-AF5F-B867148D6A3B}"/>
              </a:ext>
            </a:extLst>
          </p:cNvPr>
          <p:cNvSpPr txBox="1"/>
          <p:nvPr/>
        </p:nvSpPr>
        <p:spPr>
          <a:xfrm>
            <a:off x="9151434" y="3159480"/>
            <a:ext cx="1092820" cy="261610"/>
          </a:xfrm>
          <a:prstGeom prst="rect">
            <a:avLst/>
          </a:prstGeom>
          <a:solidFill>
            <a:srgbClr val="F9F9F9"/>
          </a:solidFill>
        </p:spPr>
        <p:txBody>
          <a:bodyPr wrap="square" rtlCol="0">
            <a:spAutoFit/>
          </a:bodyPr>
          <a:lstStyle/>
          <a:p>
            <a:pPr algn="ctr"/>
            <a:r>
              <a:rPr lang="en-US" sz="1100" dirty="0">
                <a:solidFill>
                  <a:schemeClr val="accent6">
                    <a:lumMod val="50000"/>
                  </a:schemeClr>
                </a:solidFill>
              </a:rPr>
              <a:t>Database</a:t>
            </a:r>
          </a:p>
        </p:txBody>
      </p:sp>
      <p:sp>
        <p:nvSpPr>
          <p:cNvPr id="8" name="TextBox 7">
            <a:extLst>
              <a:ext uri="{FF2B5EF4-FFF2-40B4-BE49-F238E27FC236}">
                <a16:creationId xmlns:a16="http://schemas.microsoft.com/office/drawing/2014/main" id="{8F57EA74-2F4D-FB5A-762F-D6D0CDE8637D}"/>
              </a:ext>
            </a:extLst>
          </p:cNvPr>
          <p:cNvSpPr txBox="1"/>
          <p:nvPr/>
        </p:nvSpPr>
        <p:spPr>
          <a:xfrm>
            <a:off x="9162585" y="4243484"/>
            <a:ext cx="1092820" cy="261610"/>
          </a:xfrm>
          <a:prstGeom prst="rect">
            <a:avLst/>
          </a:prstGeom>
          <a:solidFill>
            <a:srgbClr val="F9F9F9"/>
          </a:solidFill>
        </p:spPr>
        <p:txBody>
          <a:bodyPr wrap="square" rtlCol="0">
            <a:spAutoFit/>
          </a:bodyPr>
          <a:lstStyle/>
          <a:p>
            <a:pPr algn="ctr"/>
            <a:r>
              <a:rPr lang="en-US" sz="1100" dirty="0">
                <a:solidFill>
                  <a:schemeClr val="accent6">
                    <a:lumMod val="50000"/>
                  </a:schemeClr>
                </a:solidFill>
              </a:rPr>
              <a:t>Web tools</a:t>
            </a:r>
          </a:p>
        </p:txBody>
      </p:sp>
      <p:sp>
        <p:nvSpPr>
          <p:cNvPr id="9" name="TextBox 8">
            <a:extLst>
              <a:ext uri="{FF2B5EF4-FFF2-40B4-BE49-F238E27FC236}">
                <a16:creationId xmlns:a16="http://schemas.microsoft.com/office/drawing/2014/main" id="{0548B80B-0A06-DF45-F4B0-2FE48D9598B8}"/>
              </a:ext>
            </a:extLst>
          </p:cNvPr>
          <p:cNvSpPr txBox="1"/>
          <p:nvPr/>
        </p:nvSpPr>
        <p:spPr>
          <a:xfrm>
            <a:off x="237744" y="365760"/>
            <a:ext cx="5858256" cy="461665"/>
          </a:xfrm>
          <a:prstGeom prst="rect">
            <a:avLst/>
          </a:prstGeom>
          <a:noFill/>
        </p:spPr>
        <p:txBody>
          <a:bodyPr wrap="square" rtlCol="0">
            <a:spAutoFit/>
          </a:bodyPr>
          <a:lstStyle/>
          <a:p>
            <a:r>
              <a:rPr lang="en-US" sz="2400" b="1" dirty="0">
                <a:solidFill>
                  <a:schemeClr val="accent1"/>
                </a:solidFill>
              </a:rPr>
              <a:t>MCP Protocol</a:t>
            </a:r>
          </a:p>
        </p:txBody>
      </p:sp>
    </p:spTree>
    <p:extLst>
      <p:ext uri="{BB962C8B-B14F-4D97-AF65-F5344CB8AC3E}">
        <p14:creationId xmlns:p14="http://schemas.microsoft.com/office/powerpoint/2010/main" val="1774645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1134E0-BFEA-BECB-16DC-07948F83465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9A6F8AE-1490-0EC6-9C4E-FD690E2E2325}"/>
              </a:ext>
            </a:extLst>
          </p:cNvPr>
          <p:cNvSpPr txBox="1"/>
          <p:nvPr/>
        </p:nvSpPr>
        <p:spPr>
          <a:xfrm>
            <a:off x="237744" y="365760"/>
            <a:ext cx="5858256" cy="461665"/>
          </a:xfrm>
          <a:prstGeom prst="rect">
            <a:avLst/>
          </a:prstGeom>
          <a:noFill/>
        </p:spPr>
        <p:txBody>
          <a:bodyPr wrap="square" rtlCol="0">
            <a:spAutoFit/>
          </a:bodyPr>
          <a:lstStyle/>
          <a:p>
            <a:r>
              <a:rPr lang="en-US" sz="2400" b="1" dirty="0">
                <a:solidFill>
                  <a:schemeClr val="accent1"/>
                </a:solidFill>
              </a:rPr>
              <a:t>A2A Protocol</a:t>
            </a:r>
          </a:p>
        </p:txBody>
      </p:sp>
      <p:sp>
        <p:nvSpPr>
          <p:cNvPr id="2" name="TextBox 1">
            <a:extLst>
              <a:ext uri="{FF2B5EF4-FFF2-40B4-BE49-F238E27FC236}">
                <a16:creationId xmlns:a16="http://schemas.microsoft.com/office/drawing/2014/main" id="{EF93EBF7-387D-98C2-B9C3-7DF01BBB1C55}"/>
              </a:ext>
            </a:extLst>
          </p:cNvPr>
          <p:cNvSpPr txBox="1"/>
          <p:nvPr/>
        </p:nvSpPr>
        <p:spPr>
          <a:xfrm>
            <a:off x="237744" y="1062181"/>
            <a:ext cx="9984510" cy="698717"/>
          </a:xfrm>
          <a:prstGeom prst="rect">
            <a:avLst/>
          </a:prstGeom>
          <a:noFill/>
        </p:spPr>
        <p:txBody>
          <a:bodyPr wrap="square" rtlCol="0">
            <a:spAutoFit/>
          </a:bodyPr>
          <a:lstStyle/>
          <a:p>
            <a:pPr>
              <a:lnSpc>
                <a:spcPct val="150000"/>
              </a:lnSpc>
            </a:pPr>
            <a:r>
              <a:rPr lang="en-IN" sz="1400" b="1" dirty="0">
                <a:solidFill>
                  <a:schemeClr val="accent1">
                    <a:lumMod val="75000"/>
                  </a:schemeClr>
                </a:solidFill>
                <a:latin typeface="Arial" panose="020B0604020202020204" pitchFamily="34" charset="0"/>
                <a:cs typeface="Arial" panose="020B0604020202020204" pitchFamily="34" charset="0"/>
              </a:rPr>
              <a:t>A2A is an open protocol that provides a standard way for agents to collaborate with each other, regardless of the underlying framework or vendor.</a:t>
            </a:r>
            <a:endParaRPr lang="en-US" sz="1400" b="1" dirty="0">
              <a:solidFill>
                <a:schemeClr val="accent1">
                  <a:lumMod val="75000"/>
                </a:schemeClr>
              </a:solidFill>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7636BB75-5F0B-0722-A513-D188825220EC}"/>
              </a:ext>
            </a:extLst>
          </p:cNvPr>
          <p:cNvPicPr>
            <a:picLocks noChangeAspect="1"/>
          </p:cNvPicPr>
          <p:nvPr/>
        </p:nvPicPr>
        <p:blipFill>
          <a:blip r:embed="rId3"/>
          <a:stretch>
            <a:fillRect/>
          </a:stretch>
        </p:blipFill>
        <p:spPr>
          <a:xfrm>
            <a:off x="1149071" y="2281133"/>
            <a:ext cx="8161855" cy="4066141"/>
          </a:xfrm>
          <a:prstGeom prst="rect">
            <a:avLst/>
          </a:prstGeom>
        </p:spPr>
      </p:pic>
    </p:spTree>
    <p:extLst>
      <p:ext uri="{BB962C8B-B14F-4D97-AF65-F5344CB8AC3E}">
        <p14:creationId xmlns:p14="http://schemas.microsoft.com/office/powerpoint/2010/main" val="18556518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BF3FE43-E05A-CE9E-B826-4E09D1AC8984}"/>
              </a:ext>
            </a:extLst>
          </p:cNvPr>
          <p:cNvPicPr>
            <a:picLocks noChangeAspect="1"/>
          </p:cNvPicPr>
          <p:nvPr/>
        </p:nvPicPr>
        <p:blipFill>
          <a:blip r:embed="rId2"/>
          <a:stretch>
            <a:fillRect/>
          </a:stretch>
        </p:blipFill>
        <p:spPr>
          <a:xfrm>
            <a:off x="-397727" y="0"/>
            <a:ext cx="12589727" cy="7004065"/>
          </a:xfrm>
          <a:prstGeom prst="rect">
            <a:avLst/>
          </a:prstGeom>
        </p:spPr>
      </p:pic>
      <p:sp>
        <p:nvSpPr>
          <p:cNvPr id="2" name="Title 1">
            <a:extLst>
              <a:ext uri="{FF2B5EF4-FFF2-40B4-BE49-F238E27FC236}">
                <a16:creationId xmlns:a16="http://schemas.microsoft.com/office/drawing/2014/main" id="{E16C8487-C5A5-73DC-54A7-67A10786B0F9}"/>
              </a:ext>
            </a:extLst>
          </p:cNvPr>
          <p:cNvSpPr>
            <a:spLocks noGrp="1"/>
          </p:cNvSpPr>
          <p:nvPr>
            <p:ph type="title"/>
          </p:nvPr>
        </p:nvSpPr>
        <p:spPr>
          <a:xfrm>
            <a:off x="249044" y="283737"/>
            <a:ext cx="3185532" cy="705392"/>
          </a:xfrm>
        </p:spPr>
        <p:txBody>
          <a:bodyPr>
            <a:normAutofit/>
          </a:bodyPr>
          <a:lstStyle/>
          <a:p>
            <a:r>
              <a:rPr lang="en-US" sz="2400" b="1" dirty="0">
                <a:solidFill>
                  <a:schemeClr val="accent1"/>
                </a:solidFill>
                <a:latin typeface="+mn-lt"/>
                <a:ea typeface="+mn-ea"/>
                <a:cs typeface="+mn-cs"/>
              </a:rPr>
              <a:t>A solution with A2A</a:t>
            </a:r>
          </a:p>
        </p:txBody>
      </p:sp>
    </p:spTree>
    <p:extLst>
      <p:ext uri="{BB962C8B-B14F-4D97-AF65-F5344CB8AC3E}">
        <p14:creationId xmlns:p14="http://schemas.microsoft.com/office/powerpoint/2010/main" val="3870167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56F2CA5B-0194-1412-78D9-5B8FE9706707}"/>
              </a:ext>
            </a:extLst>
          </p:cNvPr>
          <p:cNvGraphicFramePr>
            <a:graphicFrameLocks noGrp="1"/>
          </p:cNvGraphicFramePr>
          <p:nvPr>
            <p:extLst>
              <p:ext uri="{D42A27DB-BD31-4B8C-83A1-F6EECF244321}">
                <p14:modId xmlns:p14="http://schemas.microsoft.com/office/powerpoint/2010/main" val="2722930877"/>
              </p:ext>
            </p:extLst>
          </p:nvPr>
        </p:nvGraphicFramePr>
        <p:xfrm>
          <a:off x="582651" y="3586293"/>
          <a:ext cx="10515600" cy="2720460"/>
        </p:xfrm>
        <a:graphic>
          <a:graphicData uri="http://schemas.openxmlformats.org/drawingml/2006/table">
            <a:tbl>
              <a:tblPr>
                <a:tableStyleId>{5940675A-B579-460E-94D1-54222C63F5DA}</a:tableStyleId>
              </a:tblPr>
              <a:tblGrid>
                <a:gridCol w="1169020">
                  <a:extLst>
                    <a:ext uri="{9D8B030D-6E8A-4147-A177-3AD203B41FA5}">
                      <a16:colId xmlns:a16="http://schemas.microsoft.com/office/drawing/2014/main" val="2390041268"/>
                    </a:ext>
                  </a:extLst>
                </a:gridCol>
                <a:gridCol w="4070195">
                  <a:extLst>
                    <a:ext uri="{9D8B030D-6E8A-4147-A177-3AD203B41FA5}">
                      <a16:colId xmlns:a16="http://schemas.microsoft.com/office/drawing/2014/main" val="4045673059"/>
                    </a:ext>
                  </a:extLst>
                </a:gridCol>
                <a:gridCol w="5276385">
                  <a:extLst>
                    <a:ext uri="{9D8B030D-6E8A-4147-A177-3AD203B41FA5}">
                      <a16:colId xmlns:a16="http://schemas.microsoft.com/office/drawing/2014/main" val="1044020226"/>
                    </a:ext>
                  </a:extLst>
                </a:gridCol>
              </a:tblGrid>
              <a:tr h="227440">
                <a:tc>
                  <a:txBody>
                    <a:bodyPr/>
                    <a:lstStyle/>
                    <a:p>
                      <a:pPr algn="l" fontAlgn="t">
                        <a:buNone/>
                      </a:pPr>
                      <a:endParaRPr lang="en-IN" sz="1100" b="1" dirty="0">
                        <a:effectLst/>
                      </a:endParaRPr>
                    </a:p>
                  </a:txBody>
                  <a:tcPr marL="56860" marR="56860" marT="28430" marB="2843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t">
                        <a:buNone/>
                      </a:pPr>
                      <a:r>
                        <a:rPr lang="en-IN" sz="1100" b="1">
                          <a:effectLst/>
                        </a:rPr>
                        <a:t>Description</a:t>
                      </a:r>
                    </a:p>
                  </a:txBody>
                  <a:tcPr marL="56860" marR="56860" marT="28430" marB="2843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t">
                        <a:buNone/>
                      </a:pPr>
                      <a:r>
                        <a:rPr lang="en-IN" sz="1100" b="1" dirty="0">
                          <a:effectLst/>
                        </a:rPr>
                        <a:t>Key Purpose</a:t>
                      </a:r>
                    </a:p>
                  </a:txBody>
                  <a:tcPr marL="56860" marR="56860" marT="28430" marB="2843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60718187"/>
                  </a:ext>
                </a:extLst>
              </a:tr>
              <a:tr h="568600">
                <a:tc>
                  <a:txBody>
                    <a:bodyPr/>
                    <a:lstStyle/>
                    <a:p>
                      <a:pPr algn="l" fontAlgn="t">
                        <a:buNone/>
                      </a:pPr>
                      <a:r>
                        <a:rPr lang="en-IN" sz="1100" b="1">
                          <a:effectLst/>
                        </a:rPr>
                        <a:t>Agent Card</a:t>
                      </a:r>
                    </a:p>
                  </a:txBody>
                  <a:tcPr marL="56860" marR="56860" marT="28430" marB="2843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t">
                        <a:buNone/>
                      </a:pPr>
                      <a:r>
                        <a:rPr lang="en-IN" sz="1100" b="0">
                          <a:effectLst/>
                        </a:rPr>
                        <a:t>A JSON metadata document describing an agent's identity, capabilities, endpoint, skills, and authentication requirements.</a:t>
                      </a:r>
                    </a:p>
                  </a:txBody>
                  <a:tcPr marL="56860" marR="56860" marT="28430" marB="2843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t">
                        <a:buNone/>
                      </a:pPr>
                      <a:r>
                        <a:rPr lang="en-IN" sz="1100" b="0">
                          <a:effectLst/>
                        </a:rPr>
                        <a:t>Enables clients to discover agents and understand how to interact with them securely and effectively.</a:t>
                      </a:r>
                    </a:p>
                  </a:txBody>
                  <a:tcPr marL="56860" marR="56860" marT="28430" marB="2843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37448690"/>
                  </a:ext>
                </a:extLst>
              </a:tr>
              <a:tr h="398020">
                <a:tc>
                  <a:txBody>
                    <a:bodyPr/>
                    <a:lstStyle/>
                    <a:p>
                      <a:pPr algn="l" fontAlgn="t">
                        <a:buNone/>
                      </a:pPr>
                      <a:r>
                        <a:rPr lang="en-IN" sz="1100" b="1">
                          <a:effectLst/>
                        </a:rPr>
                        <a:t>Task</a:t>
                      </a:r>
                    </a:p>
                  </a:txBody>
                  <a:tcPr marL="56860" marR="56860" marT="28430" marB="2843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t">
                        <a:buNone/>
                      </a:pPr>
                      <a:r>
                        <a:rPr lang="en-IN" sz="1100" b="0" dirty="0">
                          <a:effectLst/>
                        </a:rPr>
                        <a:t>A stateful unit of work initiated by an agent, with a unique ID and defined lifecycle.</a:t>
                      </a:r>
                    </a:p>
                  </a:txBody>
                  <a:tcPr marL="56860" marR="56860" marT="28430" marB="2843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t">
                        <a:buNone/>
                      </a:pPr>
                      <a:r>
                        <a:rPr lang="en-IN" sz="1100" b="0">
                          <a:effectLst/>
                        </a:rPr>
                        <a:t>Facilitates tracking of long-running operations and enables multi-turn interactions and collaboration.</a:t>
                      </a:r>
                    </a:p>
                  </a:txBody>
                  <a:tcPr marL="56860" marR="56860" marT="28430" marB="2843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8049601"/>
                  </a:ext>
                </a:extLst>
              </a:tr>
              <a:tr h="398020">
                <a:tc>
                  <a:txBody>
                    <a:bodyPr/>
                    <a:lstStyle/>
                    <a:p>
                      <a:pPr algn="l" fontAlgn="t">
                        <a:buNone/>
                      </a:pPr>
                      <a:r>
                        <a:rPr lang="en-IN" sz="1100" b="1">
                          <a:effectLst/>
                        </a:rPr>
                        <a:t>Message</a:t>
                      </a:r>
                    </a:p>
                  </a:txBody>
                  <a:tcPr marL="56860" marR="56860" marT="28430" marB="2843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t">
                        <a:buNone/>
                      </a:pPr>
                      <a:r>
                        <a:rPr lang="en-IN" sz="1100" b="0">
                          <a:effectLst/>
                        </a:rPr>
                        <a:t>A single turn of communication between a client and an agent, containing content and a role ("user" or "agent").</a:t>
                      </a:r>
                    </a:p>
                  </a:txBody>
                  <a:tcPr marL="56860" marR="56860" marT="28430" marB="2843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t">
                        <a:buNone/>
                      </a:pPr>
                      <a:r>
                        <a:rPr lang="en-IN" sz="1100" b="0">
                          <a:effectLst/>
                        </a:rPr>
                        <a:t>Conveys instructions, context, questions, answers, or status updates that are not necessarily formal artifacts.</a:t>
                      </a:r>
                    </a:p>
                  </a:txBody>
                  <a:tcPr marL="56860" marR="56860" marT="28430" marB="2843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41544375"/>
                  </a:ext>
                </a:extLst>
              </a:tr>
              <a:tr h="568600">
                <a:tc>
                  <a:txBody>
                    <a:bodyPr/>
                    <a:lstStyle/>
                    <a:p>
                      <a:pPr algn="l" fontAlgn="t">
                        <a:buNone/>
                      </a:pPr>
                      <a:r>
                        <a:rPr lang="en-IN" sz="1100" b="1">
                          <a:effectLst/>
                        </a:rPr>
                        <a:t>Part</a:t>
                      </a:r>
                    </a:p>
                  </a:txBody>
                  <a:tcPr marL="56860" marR="56860" marT="28430" marB="2843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t">
                        <a:buNone/>
                      </a:pPr>
                      <a:r>
                        <a:rPr lang="en-IN" sz="1100" b="0" dirty="0">
                          <a:effectLst/>
                        </a:rPr>
                        <a:t>The fundamental content container (for example, </a:t>
                      </a:r>
                      <a:r>
                        <a:rPr lang="en-IN" sz="1100" b="0" dirty="0" err="1">
                          <a:effectLst/>
                        </a:rPr>
                        <a:t>TextPart</a:t>
                      </a:r>
                      <a:r>
                        <a:rPr lang="en-IN" sz="1100" b="0" dirty="0">
                          <a:effectLst/>
                        </a:rPr>
                        <a:t>, </a:t>
                      </a:r>
                      <a:r>
                        <a:rPr lang="en-IN" sz="1100" b="0" dirty="0" err="1">
                          <a:effectLst/>
                        </a:rPr>
                        <a:t>FilePart</a:t>
                      </a:r>
                      <a:r>
                        <a:rPr lang="en-IN" sz="1100" b="0" dirty="0">
                          <a:effectLst/>
                        </a:rPr>
                        <a:t>, </a:t>
                      </a:r>
                      <a:r>
                        <a:rPr lang="en-IN" sz="1100" b="0" dirty="0" err="1">
                          <a:effectLst/>
                        </a:rPr>
                        <a:t>DataPart</a:t>
                      </a:r>
                      <a:r>
                        <a:rPr lang="en-IN" sz="1100" b="0" dirty="0">
                          <a:effectLst/>
                        </a:rPr>
                        <a:t>) used within Messages and Artifacts. Example – Instruction, Query, File, Json Document, Text Summary etc.</a:t>
                      </a:r>
                    </a:p>
                  </a:txBody>
                  <a:tcPr marL="56860" marR="56860" marT="28430" marB="2843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t">
                        <a:buNone/>
                      </a:pPr>
                      <a:r>
                        <a:rPr lang="en-IN" sz="1100" b="0" dirty="0">
                          <a:effectLst/>
                        </a:rPr>
                        <a:t>Provides flexibility for agents to exchange various content types within messages and artifacts.</a:t>
                      </a:r>
                    </a:p>
                  </a:txBody>
                  <a:tcPr marL="56860" marR="56860" marT="28430" marB="2843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34992830"/>
                  </a:ext>
                </a:extLst>
              </a:tr>
              <a:tr h="398020">
                <a:tc>
                  <a:txBody>
                    <a:bodyPr/>
                    <a:lstStyle/>
                    <a:p>
                      <a:pPr algn="l" fontAlgn="t">
                        <a:buNone/>
                      </a:pPr>
                      <a:r>
                        <a:rPr lang="en-IN" sz="1100" b="1" dirty="0">
                          <a:effectLst/>
                        </a:rPr>
                        <a:t>Artifact</a:t>
                      </a:r>
                    </a:p>
                  </a:txBody>
                  <a:tcPr marL="56860" marR="56860" marT="28430" marB="2843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t">
                        <a:buNone/>
                      </a:pPr>
                      <a:r>
                        <a:rPr lang="en-IN" sz="1100" b="0" dirty="0">
                          <a:effectLst/>
                        </a:rPr>
                        <a:t>A tangible output generated by an agent during a task. Example –Documents, F</a:t>
                      </a:r>
                      <a:r>
                        <a:rPr lang="en-IN" sz="1100" dirty="0"/>
                        <a:t>iles, Images, Data models, Visualizations, Summaries, Reports, or generated code</a:t>
                      </a:r>
                      <a:endParaRPr lang="en-IN" sz="1100" b="0" dirty="0">
                        <a:effectLst/>
                      </a:endParaRPr>
                    </a:p>
                  </a:txBody>
                  <a:tcPr marL="56860" marR="56860" marT="28430" marB="2843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t">
                        <a:buNone/>
                      </a:pPr>
                      <a:r>
                        <a:rPr lang="en-IN" sz="1100" b="0" dirty="0">
                          <a:effectLst/>
                        </a:rPr>
                        <a:t>Delivers the concrete results of an agent's work.</a:t>
                      </a:r>
                    </a:p>
                  </a:txBody>
                  <a:tcPr marL="56860" marR="56860" marT="28430" marB="2843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72317837"/>
                  </a:ext>
                </a:extLst>
              </a:tr>
            </a:tbl>
          </a:graphicData>
        </a:graphic>
      </p:graphicFrame>
      <p:sp>
        <p:nvSpPr>
          <p:cNvPr id="8" name="TextBox 7">
            <a:extLst>
              <a:ext uri="{FF2B5EF4-FFF2-40B4-BE49-F238E27FC236}">
                <a16:creationId xmlns:a16="http://schemas.microsoft.com/office/drawing/2014/main" id="{D8C5FB1B-FB35-0C0F-2061-48B5EEE1EFF5}"/>
              </a:ext>
            </a:extLst>
          </p:cNvPr>
          <p:cNvSpPr txBox="1"/>
          <p:nvPr/>
        </p:nvSpPr>
        <p:spPr>
          <a:xfrm>
            <a:off x="370778" y="247998"/>
            <a:ext cx="6094140" cy="461665"/>
          </a:xfrm>
          <a:prstGeom prst="rect">
            <a:avLst/>
          </a:prstGeom>
          <a:noFill/>
        </p:spPr>
        <p:txBody>
          <a:bodyPr wrap="square">
            <a:spAutoFit/>
          </a:bodyPr>
          <a:lstStyle/>
          <a:p>
            <a:pPr algn="l">
              <a:buNone/>
            </a:pPr>
            <a:r>
              <a:rPr lang="en-IN" sz="2400" b="1" dirty="0">
                <a:solidFill>
                  <a:schemeClr val="accent1"/>
                </a:solidFill>
              </a:rPr>
              <a:t>A2A – Fundamental Components</a:t>
            </a:r>
          </a:p>
        </p:txBody>
      </p:sp>
      <p:sp>
        <p:nvSpPr>
          <p:cNvPr id="10" name="TextBox 9">
            <a:extLst>
              <a:ext uri="{FF2B5EF4-FFF2-40B4-BE49-F238E27FC236}">
                <a16:creationId xmlns:a16="http://schemas.microsoft.com/office/drawing/2014/main" id="{42530358-E1C9-0726-E32A-6988C0D38237}"/>
              </a:ext>
            </a:extLst>
          </p:cNvPr>
          <p:cNvSpPr txBox="1"/>
          <p:nvPr/>
        </p:nvSpPr>
        <p:spPr>
          <a:xfrm>
            <a:off x="370778" y="872226"/>
            <a:ext cx="13679758" cy="1631216"/>
          </a:xfrm>
          <a:prstGeom prst="rect">
            <a:avLst/>
          </a:prstGeom>
          <a:noFill/>
        </p:spPr>
        <p:txBody>
          <a:bodyPr wrap="square">
            <a:spAutoFit/>
          </a:bodyPr>
          <a:lstStyle/>
          <a:p>
            <a:pPr algn="l"/>
            <a:endParaRPr lang="en-IN" sz="1600" b="0" i="0" dirty="0">
              <a:effectLst/>
              <a:latin typeface="Google Sans"/>
            </a:endParaRPr>
          </a:p>
          <a:p>
            <a:pPr marL="285750" indent="-285750" algn="l">
              <a:buFont typeface="Arial" panose="020B0604020202020204" pitchFamily="34" charset="0"/>
              <a:buChar char="•"/>
            </a:pPr>
            <a:r>
              <a:rPr lang="en-IN" b="1" i="0" dirty="0">
                <a:solidFill>
                  <a:schemeClr val="tx1">
                    <a:lumMod val="75000"/>
                    <a:lumOff val="25000"/>
                  </a:schemeClr>
                </a:solidFill>
                <a:effectLst/>
                <a:latin typeface="Google Sans"/>
              </a:rPr>
              <a:t>A2A Client (Client Agent</a:t>
            </a:r>
            <a:r>
              <a:rPr lang="en-IN" b="1" dirty="0">
                <a:solidFill>
                  <a:schemeClr val="tx1">
                    <a:lumMod val="75000"/>
                    <a:lumOff val="25000"/>
                  </a:schemeClr>
                </a:solidFill>
                <a:latin typeface="Google Sans"/>
              </a:rPr>
              <a:t>)</a:t>
            </a:r>
            <a:endParaRPr lang="en-IN" sz="1600" b="1" dirty="0">
              <a:solidFill>
                <a:schemeClr val="tx1">
                  <a:lumMod val="75000"/>
                  <a:lumOff val="25000"/>
                </a:schemeClr>
              </a:solidFill>
              <a:latin typeface="Google Sans"/>
            </a:endParaRPr>
          </a:p>
          <a:p>
            <a:pPr algn="l"/>
            <a:r>
              <a:rPr lang="en-IN" sz="1600" dirty="0">
                <a:solidFill>
                  <a:schemeClr val="tx1">
                    <a:lumMod val="65000"/>
                    <a:lumOff val="35000"/>
                  </a:schemeClr>
                </a:solidFill>
                <a:latin typeface="Google Sans"/>
              </a:rPr>
              <a:t>      The client initiates communication using the A2A protocol.</a:t>
            </a:r>
            <a:br>
              <a:rPr lang="en-IN" sz="1600" dirty="0">
                <a:solidFill>
                  <a:schemeClr val="tx1">
                    <a:lumMod val="65000"/>
                    <a:lumOff val="35000"/>
                  </a:schemeClr>
                </a:solidFill>
                <a:latin typeface="Google Sans"/>
              </a:rPr>
            </a:br>
            <a:endParaRPr lang="en-IN" sz="1600" dirty="0">
              <a:solidFill>
                <a:schemeClr val="tx1">
                  <a:lumMod val="65000"/>
                  <a:lumOff val="35000"/>
                </a:schemeClr>
              </a:solidFill>
              <a:latin typeface="Google Sans"/>
            </a:endParaRPr>
          </a:p>
          <a:p>
            <a:pPr marL="285750" indent="-285750" algn="l">
              <a:buFont typeface="Arial" panose="020B0604020202020204" pitchFamily="34" charset="0"/>
              <a:buChar char="•"/>
            </a:pPr>
            <a:r>
              <a:rPr lang="en-IN" b="1" i="0" dirty="0">
                <a:solidFill>
                  <a:schemeClr val="tx1">
                    <a:lumMod val="75000"/>
                    <a:lumOff val="25000"/>
                  </a:schemeClr>
                </a:solidFill>
                <a:effectLst/>
                <a:latin typeface="Google Sans"/>
              </a:rPr>
              <a:t>A2A Server (Remote Agent)</a:t>
            </a:r>
            <a:endParaRPr lang="en-IN" dirty="0">
              <a:solidFill>
                <a:schemeClr val="tx1">
                  <a:lumMod val="75000"/>
                  <a:lumOff val="25000"/>
                </a:schemeClr>
              </a:solidFill>
              <a:latin typeface="Google Sans"/>
            </a:endParaRPr>
          </a:p>
          <a:p>
            <a:pPr algn="l"/>
            <a:r>
              <a:rPr lang="en-IN" sz="1600" dirty="0">
                <a:latin typeface="Google Sans"/>
              </a:rPr>
              <a:t>     </a:t>
            </a:r>
            <a:r>
              <a:rPr lang="en-IN" sz="1600" dirty="0">
                <a:solidFill>
                  <a:schemeClr val="tx1">
                    <a:lumMod val="65000"/>
                    <a:lumOff val="35000"/>
                  </a:schemeClr>
                </a:solidFill>
                <a:latin typeface="Google Sans"/>
              </a:rPr>
              <a:t>  The Server which receives HTTP requests from clients, processes tasks, and returns results or status updates. </a:t>
            </a:r>
            <a:endParaRPr lang="en-IN" b="0" i="0" dirty="0">
              <a:solidFill>
                <a:schemeClr val="tx1">
                  <a:lumMod val="65000"/>
                  <a:lumOff val="35000"/>
                </a:schemeClr>
              </a:solidFill>
              <a:effectLst/>
              <a:latin typeface="Google Sans"/>
            </a:endParaRPr>
          </a:p>
        </p:txBody>
      </p:sp>
      <p:sp>
        <p:nvSpPr>
          <p:cNvPr id="11" name="TextBox 10">
            <a:extLst>
              <a:ext uri="{FF2B5EF4-FFF2-40B4-BE49-F238E27FC236}">
                <a16:creationId xmlns:a16="http://schemas.microsoft.com/office/drawing/2014/main" id="{525C8BE7-CB2D-6AEA-47B8-774E6D1D1E2A}"/>
              </a:ext>
            </a:extLst>
          </p:cNvPr>
          <p:cNvSpPr txBox="1"/>
          <p:nvPr/>
        </p:nvSpPr>
        <p:spPr>
          <a:xfrm>
            <a:off x="479502" y="2988527"/>
            <a:ext cx="5163015" cy="400110"/>
          </a:xfrm>
          <a:prstGeom prst="rect">
            <a:avLst/>
          </a:prstGeom>
          <a:noFill/>
        </p:spPr>
        <p:txBody>
          <a:bodyPr wrap="square" rtlCol="0">
            <a:spAutoFit/>
          </a:bodyPr>
          <a:lstStyle/>
          <a:p>
            <a:r>
              <a:rPr lang="en-US" sz="2000" b="1" dirty="0">
                <a:solidFill>
                  <a:schemeClr val="accent1"/>
                </a:solidFill>
              </a:rPr>
              <a:t>Key Elements</a:t>
            </a:r>
          </a:p>
        </p:txBody>
      </p:sp>
    </p:spTree>
    <p:extLst>
      <p:ext uri="{BB962C8B-B14F-4D97-AF65-F5344CB8AC3E}">
        <p14:creationId xmlns:p14="http://schemas.microsoft.com/office/powerpoint/2010/main" val="1128298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ounded Rectangle 11">
            <a:extLst>
              <a:ext uri="{FF2B5EF4-FFF2-40B4-BE49-F238E27FC236}">
                <a16:creationId xmlns:a16="http://schemas.microsoft.com/office/drawing/2014/main" id="{3D896401-0701-37CE-3199-EB8731020AD7}"/>
              </a:ext>
            </a:extLst>
          </p:cNvPr>
          <p:cNvSpPr/>
          <p:nvPr/>
        </p:nvSpPr>
        <p:spPr>
          <a:xfrm>
            <a:off x="6285566" y="406090"/>
            <a:ext cx="2535047" cy="241516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6" name="Rounded Rectangle 15">
            <a:extLst>
              <a:ext uri="{FF2B5EF4-FFF2-40B4-BE49-F238E27FC236}">
                <a16:creationId xmlns:a16="http://schemas.microsoft.com/office/drawing/2014/main" id="{E0367BBF-504F-83C6-BBCF-962CD77B74BD}"/>
              </a:ext>
            </a:extLst>
          </p:cNvPr>
          <p:cNvSpPr/>
          <p:nvPr/>
        </p:nvSpPr>
        <p:spPr>
          <a:xfrm>
            <a:off x="6545766" y="740163"/>
            <a:ext cx="1984917" cy="1936130"/>
          </a:xfrm>
          <a:prstGeom prst="roundRect">
            <a:avLst/>
          </a:prstGeom>
          <a:solidFill>
            <a:schemeClr val="accent4">
              <a:lumMod val="40000"/>
              <a:lumOff val="60000"/>
            </a:schemeClr>
          </a:solidFill>
          <a:ln>
            <a:solidFill>
              <a:srgbClr val="00B0F0"/>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US"/>
          </a:p>
        </p:txBody>
      </p:sp>
      <p:sp>
        <p:nvSpPr>
          <p:cNvPr id="9" name="Rounded Rectangle 8">
            <a:extLst>
              <a:ext uri="{FF2B5EF4-FFF2-40B4-BE49-F238E27FC236}">
                <a16:creationId xmlns:a16="http://schemas.microsoft.com/office/drawing/2014/main" id="{0B2C7F2F-ECDC-80D5-B373-96F51F338E50}"/>
              </a:ext>
            </a:extLst>
          </p:cNvPr>
          <p:cNvSpPr/>
          <p:nvPr/>
        </p:nvSpPr>
        <p:spPr>
          <a:xfrm>
            <a:off x="6285566" y="4009792"/>
            <a:ext cx="2535047" cy="241516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4" name="Rounded Rectangle 3">
            <a:extLst>
              <a:ext uri="{FF2B5EF4-FFF2-40B4-BE49-F238E27FC236}">
                <a16:creationId xmlns:a16="http://schemas.microsoft.com/office/drawing/2014/main" id="{7D13B6EC-52C2-A51F-0CE0-F6F76A308D3A}"/>
              </a:ext>
            </a:extLst>
          </p:cNvPr>
          <p:cNvSpPr/>
          <p:nvPr/>
        </p:nvSpPr>
        <p:spPr>
          <a:xfrm>
            <a:off x="1326995" y="2821259"/>
            <a:ext cx="1906859" cy="1237785"/>
          </a:xfrm>
          <a:prstGeom prst="roundRect">
            <a:avLst/>
          </a:prstGeom>
          <a:solidFill>
            <a:schemeClr val="tx2">
              <a:lumMod val="10000"/>
              <a:lumOff val="90000"/>
            </a:schemeClr>
          </a:solidFill>
          <a:ln>
            <a:solidFill>
              <a:schemeClr val="tx2">
                <a:lumMod val="50000"/>
                <a:lumOff val="5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tx1"/>
                </a:solidFill>
              </a:rPr>
              <a:t>Host Agent</a:t>
            </a:r>
          </a:p>
          <a:p>
            <a:pPr algn="ctr"/>
            <a:endParaRPr lang="en-US" dirty="0">
              <a:solidFill>
                <a:schemeClr val="tx1"/>
              </a:solidFill>
            </a:endParaRPr>
          </a:p>
          <a:p>
            <a:pPr algn="ctr"/>
            <a:r>
              <a:rPr lang="en-US" sz="1400" dirty="0">
                <a:solidFill>
                  <a:schemeClr val="tx1"/>
                </a:solidFill>
              </a:rPr>
              <a:t>A2A Client</a:t>
            </a:r>
          </a:p>
        </p:txBody>
      </p:sp>
      <p:sp>
        <p:nvSpPr>
          <p:cNvPr id="6" name="Rounded Rectangle 5">
            <a:extLst>
              <a:ext uri="{FF2B5EF4-FFF2-40B4-BE49-F238E27FC236}">
                <a16:creationId xmlns:a16="http://schemas.microsoft.com/office/drawing/2014/main" id="{9DC0B71C-A446-FCBA-8ACD-E7CD3C7A966A}"/>
              </a:ext>
            </a:extLst>
          </p:cNvPr>
          <p:cNvSpPr/>
          <p:nvPr/>
        </p:nvSpPr>
        <p:spPr>
          <a:xfrm>
            <a:off x="6871004" y="1795346"/>
            <a:ext cx="1314914" cy="787092"/>
          </a:xfrm>
          <a:prstGeom prst="roundRect">
            <a:avLst/>
          </a:prstGeom>
          <a:solidFill>
            <a:schemeClr val="tx2">
              <a:lumMod val="10000"/>
              <a:lumOff val="90000"/>
            </a:schemeClr>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600" dirty="0">
                <a:solidFill>
                  <a:schemeClr val="tx1"/>
                </a:solidFill>
              </a:rPr>
              <a:t>Agent 1</a:t>
            </a:r>
          </a:p>
        </p:txBody>
      </p:sp>
      <p:sp>
        <p:nvSpPr>
          <p:cNvPr id="13" name="TextBox 12">
            <a:extLst>
              <a:ext uri="{FF2B5EF4-FFF2-40B4-BE49-F238E27FC236}">
                <a16:creationId xmlns:a16="http://schemas.microsoft.com/office/drawing/2014/main" id="{3220C92E-FE6D-F720-61AE-DCE3E7D1B13F}"/>
              </a:ext>
            </a:extLst>
          </p:cNvPr>
          <p:cNvSpPr txBox="1"/>
          <p:nvPr/>
        </p:nvSpPr>
        <p:spPr>
          <a:xfrm>
            <a:off x="6969512" y="344769"/>
            <a:ext cx="1265659" cy="338554"/>
          </a:xfrm>
          <a:prstGeom prst="rect">
            <a:avLst/>
          </a:prstGeom>
          <a:noFill/>
        </p:spPr>
        <p:txBody>
          <a:bodyPr wrap="square" rtlCol="0">
            <a:spAutoFit/>
          </a:bodyPr>
          <a:lstStyle/>
          <a:p>
            <a:r>
              <a:rPr lang="en-US" sz="1600" dirty="0">
                <a:solidFill>
                  <a:schemeClr val="accent6">
                    <a:lumMod val="75000"/>
                  </a:schemeClr>
                </a:solidFill>
              </a:rPr>
              <a:t>A2A Server</a:t>
            </a:r>
          </a:p>
        </p:txBody>
      </p:sp>
      <p:sp>
        <p:nvSpPr>
          <p:cNvPr id="14" name="TextBox 13">
            <a:extLst>
              <a:ext uri="{FF2B5EF4-FFF2-40B4-BE49-F238E27FC236}">
                <a16:creationId xmlns:a16="http://schemas.microsoft.com/office/drawing/2014/main" id="{F4CD3593-4A7B-B22D-087D-505B70796682}"/>
              </a:ext>
            </a:extLst>
          </p:cNvPr>
          <p:cNvSpPr txBox="1"/>
          <p:nvPr/>
        </p:nvSpPr>
        <p:spPr>
          <a:xfrm>
            <a:off x="6938405" y="3972786"/>
            <a:ext cx="1265659" cy="338554"/>
          </a:xfrm>
          <a:prstGeom prst="rect">
            <a:avLst/>
          </a:prstGeom>
          <a:noFill/>
        </p:spPr>
        <p:txBody>
          <a:bodyPr wrap="square" rtlCol="0">
            <a:spAutoFit/>
          </a:bodyPr>
          <a:lstStyle/>
          <a:p>
            <a:r>
              <a:rPr lang="en-US" sz="1600" dirty="0">
                <a:solidFill>
                  <a:schemeClr val="accent6">
                    <a:lumMod val="75000"/>
                  </a:schemeClr>
                </a:solidFill>
              </a:rPr>
              <a:t>A2A Server</a:t>
            </a:r>
          </a:p>
        </p:txBody>
      </p:sp>
      <p:sp>
        <p:nvSpPr>
          <p:cNvPr id="19" name="Rounded Rectangle 18">
            <a:extLst>
              <a:ext uri="{FF2B5EF4-FFF2-40B4-BE49-F238E27FC236}">
                <a16:creationId xmlns:a16="http://schemas.microsoft.com/office/drawing/2014/main" id="{B9C85CBE-651E-FC24-9C80-303AB1CFF851}"/>
              </a:ext>
            </a:extLst>
          </p:cNvPr>
          <p:cNvSpPr/>
          <p:nvPr/>
        </p:nvSpPr>
        <p:spPr>
          <a:xfrm>
            <a:off x="6536002" y="4371907"/>
            <a:ext cx="1984917" cy="1880211"/>
          </a:xfrm>
          <a:prstGeom prst="roundRect">
            <a:avLst/>
          </a:prstGeom>
          <a:solidFill>
            <a:schemeClr val="accent4">
              <a:lumMod val="40000"/>
              <a:lumOff val="60000"/>
            </a:schemeClr>
          </a:solidFill>
        </p:spPr>
        <p:style>
          <a:lnRef idx="2">
            <a:schemeClr val="accent4"/>
          </a:lnRef>
          <a:fillRef idx="1">
            <a:schemeClr val="lt1"/>
          </a:fillRef>
          <a:effectRef idx="0">
            <a:schemeClr val="accent4"/>
          </a:effectRef>
          <a:fontRef idx="minor">
            <a:schemeClr val="dk1"/>
          </a:fontRef>
        </p:style>
        <p:txBody>
          <a:bodyPr rtlCol="0" anchor="ctr"/>
          <a:lstStyle/>
          <a:p>
            <a:pPr algn="ctr"/>
            <a:endParaRPr lang="en-US"/>
          </a:p>
        </p:txBody>
      </p:sp>
      <p:sp>
        <p:nvSpPr>
          <p:cNvPr id="20" name="Rounded Rectangle 19">
            <a:extLst>
              <a:ext uri="{FF2B5EF4-FFF2-40B4-BE49-F238E27FC236}">
                <a16:creationId xmlns:a16="http://schemas.microsoft.com/office/drawing/2014/main" id="{08D4C87A-73A1-9D76-7737-1EC8D6B9611C}"/>
              </a:ext>
            </a:extLst>
          </p:cNvPr>
          <p:cNvSpPr/>
          <p:nvPr/>
        </p:nvSpPr>
        <p:spPr>
          <a:xfrm>
            <a:off x="6871004" y="5330745"/>
            <a:ext cx="1314914" cy="787092"/>
          </a:xfrm>
          <a:prstGeom prst="roundRect">
            <a:avLst/>
          </a:prstGeom>
          <a:solidFill>
            <a:schemeClr val="tx2">
              <a:lumMod val="10000"/>
              <a:lumOff val="90000"/>
            </a:schemeClr>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600" dirty="0">
                <a:solidFill>
                  <a:schemeClr val="tx1"/>
                </a:solidFill>
              </a:rPr>
              <a:t>Agent 2</a:t>
            </a:r>
          </a:p>
        </p:txBody>
      </p:sp>
      <p:sp>
        <p:nvSpPr>
          <p:cNvPr id="21" name="TextBox 20">
            <a:extLst>
              <a:ext uri="{FF2B5EF4-FFF2-40B4-BE49-F238E27FC236}">
                <a16:creationId xmlns:a16="http://schemas.microsoft.com/office/drawing/2014/main" id="{D4C5228A-5ADB-A404-3A6E-07FE65DA6980}"/>
              </a:ext>
            </a:extLst>
          </p:cNvPr>
          <p:cNvSpPr txBox="1"/>
          <p:nvPr/>
        </p:nvSpPr>
        <p:spPr>
          <a:xfrm>
            <a:off x="6843125" y="760845"/>
            <a:ext cx="1598350" cy="307777"/>
          </a:xfrm>
          <a:prstGeom prst="rect">
            <a:avLst/>
          </a:prstGeom>
          <a:noFill/>
        </p:spPr>
        <p:txBody>
          <a:bodyPr wrap="square" rtlCol="0">
            <a:spAutoFit/>
          </a:bodyPr>
          <a:lstStyle/>
          <a:p>
            <a:r>
              <a:rPr lang="en-US" sz="1400" b="1" dirty="0">
                <a:solidFill>
                  <a:schemeClr val="accent4">
                    <a:lumMod val="75000"/>
                  </a:schemeClr>
                </a:solidFill>
              </a:rPr>
              <a:t>Agent Executor</a:t>
            </a:r>
          </a:p>
        </p:txBody>
      </p:sp>
      <p:sp>
        <p:nvSpPr>
          <p:cNvPr id="22" name="TextBox 21">
            <a:extLst>
              <a:ext uri="{FF2B5EF4-FFF2-40B4-BE49-F238E27FC236}">
                <a16:creationId xmlns:a16="http://schemas.microsoft.com/office/drawing/2014/main" id="{A9640C1B-C7E0-4C2E-0EE7-229716990AA9}"/>
              </a:ext>
            </a:extLst>
          </p:cNvPr>
          <p:cNvSpPr txBox="1"/>
          <p:nvPr/>
        </p:nvSpPr>
        <p:spPr>
          <a:xfrm>
            <a:off x="6779978" y="4375524"/>
            <a:ext cx="1598350" cy="307777"/>
          </a:xfrm>
          <a:prstGeom prst="rect">
            <a:avLst/>
          </a:prstGeom>
          <a:noFill/>
        </p:spPr>
        <p:txBody>
          <a:bodyPr wrap="square" rtlCol="0">
            <a:spAutoFit/>
          </a:bodyPr>
          <a:lstStyle/>
          <a:p>
            <a:r>
              <a:rPr lang="en-US" sz="1400" b="1" dirty="0">
                <a:solidFill>
                  <a:schemeClr val="accent4">
                    <a:lumMod val="75000"/>
                  </a:schemeClr>
                </a:solidFill>
              </a:rPr>
              <a:t>Agent Executor</a:t>
            </a:r>
          </a:p>
        </p:txBody>
      </p:sp>
      <p:sp>
        <p:nvSpPr>
          <p:cNvPr id="23" name="TextBox 22">
            <a:extLst>
              <a:ext uri="{FF2B5EF4-FFF2-40B4-BE49-F238E27FC236}">
                <a16:creationId xmlns:a16="http://schemas.microsoft.com/office/drawing/2014/main" id="{136716D8-6499-B310-BD3F-065317E4CC2B}"/>
              </a:ext>
            </a:extLst>
          </p:cNvPr>
          <p:cNvSpPr txBox="1"/>
          <p:nvPr/>
        </p:nvSpPr>
        <p:spPr>
          <a:xfrm>
            <a:off x="6871004" y="1099283"/>
            <a:ext cx="1220133" cy="461665"/>
          </a:xfrm>
          <a:prstGeom prst="rect">
            <a:avLst/>
          </a:prstGeom>
          <a:noFill/>
        </p:spPr>
        <p:txBody>
          <a:bodyPr wrap="square" rtlCol="0">
            <a:spAutoFit/>
          </a:bodyPr>
          <a:lstStyle/>
          <a:p>
            <a:r>
              <a:rPr lang="en-US" sz="1200" dirty="0">
                <a:solidFill>
                  <a:schemeClr val="accent4">
                    <a:lumMod val="75000"/>
                  </a:schemeClr>
                </a:solidFill>
              </a:rPr>
              <a:t>/execute</a:t>
            </a:r>
            <a:br>
              <a:rPr lang="en-US" sz="1200" dirty="0">
                <a:solidFill>
                  <a:schemeClr val="accent4">
                    <a:lumMod val="75000"/>
                  </a:schemeClr>
                </a:solidFill>
              </a:rPr>
            </a:br>
            <a:r>
              <a:rPr lang="en-US" sz="1200" dirty="0">
                <a:solidFill>
                  <a:schemeClr val="accent4">
                    <a:lumMod val="75000"/>
                  </a:schemeClr>
                </a:solidFill>
              </a:rPr>
              <a:t>/cancel</a:t>
            </a:r>
          </a:p>
        </p:txBody>
      </p:sp>
      <p:sp>
        <p:nvSpPr>
          <p:cNvPr id="24" name="TextBox 23">
            <a:extLst>
              <a:ext uri="{FF2B5EF4-FFF2-40B4-BE49-F238E27FC236}">
                <a16:creationId xmlns:a16="http://schemas.microsoft.com/office/drawing/2014/main" id="{6985EBD0-40DF-9FAF-AF45-FBD1492113F6}"/>
              </a:ext>
            </a:extLst>
          </p:cNvPr>
          <p:cNvSpPr txBox="1"/>
          <p:nvPr/>
        </p:nvSpPr>
        <p:spPr>
          <a:xfrm>
            <a:off x="6843125" y="4673244"/>
            <a:ext cx="1220133" cy="461665"/>
          </a:xfrm>
          <a:prstGeom prst="rect">
            <a:avLst/>
          </a:prstGeom>
          <a:noFill/>
        </p:spPr>
        <p:txBody>
          <a:bodyPr wrap="square" rtlCol="0">
            <a:spAutoFit/>
          </a:bodyPr>
          <a:lstStyle/>
          <a:p>
            <a:r>
              <a:rPr lang="en-US" sz="1200" dirty="0">
                <a:solidFill>
                  <a:schemeClr val="accent4">
                    <a:lumMod val="75000"/>
                  </a:schemeClr>
                </a:solidFill>
              </a:rPr>
              <a:t>/execute</a:t>
            </a:r>
            <a:br>
              <a:rPr lang="en-US" sz="1200" dirty="0">
                <a:solidFill>
                  <a:schemeClr val="accent4">
                    <a:lumMod val="75000"/>
                  </a:schemeClr>
                </a:solidFill>
              </a:rPr>
            </a:br>
            <a:r>
              <a:rPr lang="en-US" sz="1200" dirty="0">
                <a:solidFill>
                  <a:schemeClr val="accent4">
                    <a:lumMod val="75000"/>
                  </a:schemeClr>
                </a:solidFill>
              </a:rPr>
              <a:t>/cancel</a:t>
            </a:r>
          </a:p>
        </p:txBody>
      </p:sp>
      <p:sp>
        <p:nvSpPr>
          <p:cNvPr id="25" name="TextBox 24">
            <a:extLst>
              <a:ext uri="{FF2B5EF4-FFF2-40B4-BE49-F238E27FC236}">
                <a16:creationId xmlns:a16="http://schemas.microsoft.com/office/drawing/2014/main" id="{EC5539D9-B2AB-2D56-FE34-61FA7C8D7F90}"/>
              </a:ext>
            </a:extLst>
          </p:cNvPr>
          <p:cNvSpPr txBox="1"/>
          <p:nvPr/>
        </p:nvSpPr>
        <p:spPr>
          <a:xfrm>
            <a:off x="387381" y="4134634"/>
            <a:ext cx="2864930" cy="1077218"/>
          </a:xfrm>
          <a:prstGeom prst="rect">
            <a:avLst/>
          </a:prstGeom>
          <a:noFill/>
        </p:spPr>
        <p:txBody>
          <a:bodyPr wrap="square" rtlCol="0">
            <a:spAutoFit/>
          </a:bodyPr>
          <a:lstStyle/>
          <a:p>
            <a:pPr marL="285750" indent="-285750">
              <a:buFont typeface="Arial" panose="020B0604020202020204" pitchFamily="34" charset="0"/>
              <a:buChar char="•"/>
            </a:pPr>
            <a:r>
              <a:rPr lang="en-US" sz="1400" dirty="0"/>
              <a:t>Agent 1 : </a:t>
            </a:r>
            <a:r>
              <a:rPr lang="en-US" sz="1400" dirty="0">
                <a:hlinkClick r:id="rId2"/>
              </a:rPr>
              <a:t>https://192.168.33.23</a:t>
            </a:r>
            <a:endParaRPr lang="en-US" sz="1400" dirty="0"/>
          </a:p>
          <a:p>
            <a:pPr marL="285750" indent="-285750">
              <a:buFont typeface="Arial" panose="020B0604020202020204" pitchFamily="34" charset="0"/>
              <a:buChar char="•"/>
            </a:pPr>
            <a:r>
              <a:rPr lang="en-US" sz="1400" dirty="0"/>
              <a:t>Agent 2 : </a:t>
            </a:r>
            <a:r>
              <a:rPr lang="en-US" sz="1400" dirty="0">
                <a:hlinkClick r:id="rId3"/>
              </a:rPr>
              <a:t>https://192.168.11.22</a:t>
            </a:r>
            <a:endParaRPr lang="en-US" sz="1400" dirty="0"/>
          </a:p>
          <a:p>
            <a:pPr marL="285750" indent="-285750">
              <a:buFont typeface="Arial" panose="020B0604020202020204" pitchFamily="34" charset="0"/>
              <a:buChar char="•"/>
            </a:pPr>
            <a:endParaRPr lang="en-US" dirty="0"/>
          </a:p>
          <a:p>
            <a:endParaRPr lang="en-US" dirty="0"/>
          </a:p>
        </p:txBody>
      </p:sp>
      <p:sp>
        <p:nvSpPr>
          <p:cNvPr id="27" name="TextBox 26">
            <a:extLst>
              <a:ext uri="{FF2B5EF4-FFF2-40B4-BE49-F238E27FC236}">
                <a16:creationId xmlns:a16="http://schemas.microsoft.com/office/drawing/2014/main" id="{D4E52758-9902-DD42-3D9B-05E9BB20AB13}"/>
              </a:ext>
            </a:extLst>
          </p:cNvPr>
          <p:cNvSpPr txBox="1"/>
          <p:nvPr/>
        </p:nvSpPr>
        <p:spPr>
          <a:xfrm>
            <a:off x="6437503" y="2802850"/>
            <a:ext cx="2329679" cy="338554"/>
          </a:xfrm>
          <a:prstGeom prst="rect">
            <a:avLst/>
          </a:prstGeom>
          <a:noFill/>
        </p:spPr>
        <p:txBody>
          <a:bodyPr wrap="square">
            <a:spAutoFit/>
          </a:bodyPr>
          <a:lstStyle/>
          <a:p>
            <a:r>
              <a:rPr lang="en-US" sz="1600" dirty="0">
                <a:hlinkClick r:id="rId2"/>
              </a:rPr>
              <a:t>https://192.168.33.23</a:t>
            </a:r>
            <a:endParaRPr lang="en-US" sz="1600" dirty="0"/>
          </a:p>
        </p:txBody>
      </p:sp>
      <p:sp>
        <p:nvSpPr>
          <p:cNvPr id="28" name="TextBox 27">
            <a:extLst>
              <a:ext uri="{FF2B5EF4-FFF2-40B4-BE49-F238E27FC236}">
                <a16:creationId xmlns:a16="http://schemas.microsoft.com/office/drawing/2014/main" id="{14DEF751-3D0C-0762-DFCA-649C575C31E9}"/>
              </a:ext>
            </a:extLst>
          </p:cNvPr>
          <p:cNvSpPr txBox="1"/>
          <p:nvPr/>
        </p:nvSpPr>
        <p:spPr>
          <a:xfrm>
            <a:off x="6545766" y="6412882"/>
            <a:ext cx="2329679" cy="338554"/>
          </a:xfrm>
          <a:prstGeom prst="rect">
            <a:avLst/>
          </a:prstGeom>
          <a:noFill/>
        </p:spPr>
        <p:txBody>
          <a:bodyPr wrap="square">
            <a:spAutoFit/>
          </a:bodyPr>
          <a:lstStyle/>
          <a:p>
            <a:r>
              <a:rPr lang="en-US" sz="1600" dirty="0">
                <a:hlinkClick r:id="rId4"/>
              </a:rPr>
              <a:t>https://192.168.11.22</a:t>
            </a:r>
            <a:endParaRPr lang="en-US" sz="1600" dirty="0"/>
          </a:p>
        </p:txBody>
      </p:sp>
      <p:cxnSp>
        <p:nvCxnSpPr>
          <p:cNvPr id="30" name="Straight Arrow Connector 29">
            <a:extLst>
              <a:ext uri="{FF2B5EF4-FFF2-40B4-BE49-F238E27FC236}">
                <a16:creationId xmlns:a16="http://schemas.microsoft.com/office/drawing/2014/main" id="{EA8B5136-63BB-C649-F234-DE7F4BC1E056}"/>
              </a:ext>
            </a:extLst>
          </p:cNvPr>
          <p:cNvCxnSpPr>
            <a:stCxn id="4" idx="3"/>
          </p:cNvCxnSpPr>
          <p:nvPr/>
        </p:nvCxnSpPr>
        <p:spPr>
          <a:xfrm flipV="1">
            <a:off x="3233854" y="1613674"/>
            <a:ext cx="3051712" cy="1826478"/>
          </a:xfrm>
          <a:prstGeom prst="straightConnector1">
            <a:avLst/>
          </a:prstGeom>
          <a:ln>
            <a:headEnd type="triangle" w="lg" len="lg"/>
            <a:tailEnd type="triangle" w="lg" len="lg"/>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BD68BAB9-D664-A221-14C0-0D847CBF901B}"/>
              </a:ext>
            </a:extLst>
          </p:cNvPr>
          <p:cNvCxnSpPr>
            <a:cxnSpLocks/>
            <a:endCxn id="9" idx="1"/>
          </p:cNvCxnSpPr>
          <p:nvPr/>
        </p:nvCxnSpPr>
        <p:spPr>
          <a:xfrm>
            <a:off x="3233854" y="3556576"/>
            <a:ext cx="3051712" cy="1660801"/>
          </a:xfrm>
          <a:prstGeom prst="straightConnector1">
            <a:avLst/>
          </a:prstGeom>
          <a:ln>
            <a:headEnd type="triangle" w="lg" len="lg"/>
            <a:tailEnd type="triangle" w="lg" len="lg"/>
          </a:ln>
        </p:spPr>
        <p:style>
          <a:lnRef idx="2">
            <a:schemeClr val="accent1"/>
          </a:lnRef>
          <a:fillRef idx="0">
            <a:schemeClr val="accent1"/>
          </a:fillRef>
          <a:effectRef idx="1">
            <a:schemeClr val="accent1"/>
          </a:effectRef>
          <a:fontRef idx="minor">
            <a:schemeClr val="tx1"/>
          </a:fontRef>
        </p:style>
      </p:cxnSp>
      <p:sp>
        <p:nvSpPr>
          <p:cNvPr id="35" name="TextBox 34">
            <a:extLst>
              <a:ext uri="{FF2B5EF4-FFF2-40B4-BE49-F238E27FC236}">
                <a16:creationId xmlns:a16="http://schemas.microsoft.com/office/drawing/2014/main" id="{FFA70FED-6ED0-535E-8961-616B33A5803E}"/>
              </a:ext>
            </a:extLst>
          </p:cNvPr>
          <p:cNvSpPr txBox="1"/>
          <p:nvPr/>
        </p:nvSpPr>
        <p:spPr>
          <a:xfrm rot="19805105">
            <a:off x="4386524" y="2088625"/>
            <a:ext cx="1193180" cy="276999"/>
          </a:xfrm>
          <a:prstGeom prst="rect">
            <a:avLst/>
          </a:prstGeom>
          <a:noFill/>
        </p:spPr>
        <p:txBody>
          <a:bodyPr wrap="square" rtlCol="0">
            <a:spAutoFit/>
          </a:bodyPr>
          <a:lstStyle/>
          <a:p>
            <a:r>
              <a:rPr lang="en-US" sz="1200" dirty="0"/>
              <a:t>HTTPS</a:t>
            </a:r>
          </a:p>
        </p:txBody>
      </p:sp>
      <p:sp>
        <p:nvSpPr>
          <p:cNvPr id="36" name="TextBox 35">
            <a:extLst>
              <a:ext uri="{FF2B5EF4-FFF2-40B4-BE49-F238E27FC236}">
                <a16:creationId xmlns:a16="http://schemas.microsoft.com/office/drawing/2014/main" id="{0B95BCE5-47EB-619E-7C4B-CA4ED0D6C4F4}"/>
              </a:ext>
            </a:extLst>
          </p:cNvPr>
          <p:cNvSpPr txBox="1"/>
          <p:nvPr/>
        </p:nvSpPr>
        <p:spPr>
          <a:xfrm rot="1819424">
            <a:off x="4335188" y="4534744"/>
            <a:ext cx="1193180" cy="276999"/>
          </a:xfrm>
          <a:prstGeom prst="rect">
            <a:avLst/>
          </a:prstGeom>
          <a:noFill/>
        </p:spPr>
        <p:txBody>
          <a:bodyPr wrap="square" rtlCol="0">
            <a:spAutoFit/>
          </a:bodyPr>
          <a:lstStyle/>
          <a:p>
            <a:r>
              <a:rPr lang="en-US" sz="1200" dirty="0"/>
              <a:t>HTTPS</a:t>
            </a:r>
          </a:p>
        </p:txBody>
      </p:sp>
      <p:sp>
        <p:nvSpPr>
          <p:cNvPr id="38" name="Document 37">
            <a:extLst>
              <a:ext uri="{FF2B5EF4-FFF2-40B4-BE49-F238E27FC236}">
                <a16:creationId xmlns:a16="http://schemas.microsoft.com/office/drawing/2014/main" id="{21CFCDFC-2F09-79D9-A376-C08818C930F2}"/>
              </a:ext>
            </a:extLst>
          </p:cNvPr>
          <p:cNvSpPr/>
          <p:nvPr/>
        </p:nvSpPr>
        <p:spPr>
          <a:xfrm rot="19927064">
            <a:off x="4542539" y="2600823"/>
            <a:ext cx="922195" cy="479502"/>
          </a:xfrm>
          <a:prstGeom prst="flowChartDocumen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Message</a:t>
            </a:r>
          </a:p>
        </p:txBody>
      </p:sp>
      <p:sp>
        <p:nvSpPr>
          <p:cNvPr id="39" name="Document 38">
            <a:extLst>
              <a:ext uri="{FF2B5EF4-FFF2-40B4-BE49-F238E27FC236}">
                <a16:creationId xmlns:a16="http://schemas.microsoft.com/office/drawing/2014/main" id="{D2058542-2D76-950A-BA7A-3F3C19D59EDF}"/>
              </a:ext>
            </a:extLst>
          </p:cNvPr>
          <p:cNvSpPr/>
          <p:nvPr/>
        </p:nvSpPr>
        <p:spPr>
          <a:xfrm rot="1680234">
            <a:off x="4634781" y="3932099"/>
            <a:ext cx="922195" cy="479502"/>
          </a:xfrm>
          <a:prstGeom prst="flowChartDocumen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Message</a:t>
            </a:r>
          </a:p>
        </p:txBody>
      </p:sp>
      <p:sp>
        <p:nvSpPr>
          <p:cNvPr id="40" name="TextBox 39">
            <a:extLst>
              <a:ext uri="{FF2B5EF4-FFF2-40B4-BE49-F238E27FC236}">
                <a16:creationId xmlns:a16="http://schemas.microsoft.com/office/drawing/2014/main" id="{A4154CC0-546C-C128-E219-77C223D1A766}"/>
              </a:ext>
            </a:extLst>
          </p:cNvPr>
          <p:cNvSpPr txBox="1"/>
          <p:nvPr/>
        </p:nvSpPr>
        <p:spPr>
          <a:xfrm>
            <a:off x="9080813" y="327657"/>
            <a:ext cx="2633543" cy="2199256"/>
          </a:xfrm>
          <a:prstGeom prst="rect">
            <a:avLst/>
          </a:prstGeom>
          <a:solidFill>
            <a:srgbClr val="CBFBD2"/>
          </a:solidFill>
        </p:spPr>
        <p:txBody>
          <a:bodyPr wrap="square" rtlCol="0">
            <a:spAutoFit/>
          </a:bodyPr>
          <a:lstStyle/>
          <a:p>
            <a:pPr algn="ctr">
              <a:lnSpc>
                <a:spcPts val="1520"/>
              </a:lnSpc>
            </a:pPr>
            <a:r>
              <a:rPr lang="en-IN" sz="1100" b="1" dirty="0">
                <a:solidFill>
                  <a:schemeClr val="accent1"/>
                </a:solidFill>
              </a:rPr>
              <a:t>AGENT CARD</a:t>
            </a:r>
          </a:p>
          <a:p>
            <a:pPr>
              <a:lnSpc>
                <a:spcPts val="1520"/>
              </a:lnSpc>
            </a:pPr>
            <a:br>
              <a:rPr lang="en-IN" sz="1100" b="1" dirty="0">
                <a:solidFill>
                  <a:schemeClr val="accent1"/>
                </a:solidFill>
              </a:rPr>
            </a:br>
            <a:r>
              <a:rPr lang="en-IN" sz="1100" b="1" dirty="0">
                <a:solidFill>
                  <a:schemeClr val="accent1"/>
                </a:solidFill>
              </a:rPr>
              <a:t>name:    </a:t>
            </a:r>
            <a:r>
              <a:rPr lang="en-IN" sz="1100" dirty="0">
                <a:solidFill>
                  <a:schemeClr val="accent1"/>
                </a:solidFill>
              </a:rPr>
              <a:t>”Hotel Booking Agent",</a:t>
            </a:r>
          </a:p>
          <a:p>
            <a:pPr>
              <a:lnSpc>
                <a:spcPts val="1520"/>
              </a:lnSpc>
            </a:pPr>
            <a:r>
              <a:rPr lang="en-IN" sz="1100" b="1" dirty="0">
                <a:solidFill>
                  <a:schemeClr val="accent1"/>
                </a:solidFill>
              </a:rPr>
              <a:t>description:    </a:t>
            </a:r>
            <a:r>
              <a:rPr lang="en-IN" sz="1100" dirty="0">
                <a:solidFill>
                  <a:schemeClr val="accent1"/>
                </a:solidFill>
              </a:rPr>
              <a:t>“handles hotel booking” </a:t>
            </a:r>
            <a:br>
              <a:rPr lang="en-IN" sz="1100" dirty="0">
                <a:solidFill>
                  <a:schemeClr val="accent1"/>
                </a:solidFill>
              </a:rPr>
            </a:br>
            <a:r>
              <a:rPr lang="en-IN" sz="1100" b="1" dirty="0">
                <a:solidFill>
                  <a:schemeClr val="accent1"/>
                </a:solidFill>
              </a:rPr>
              <a:t>url:</a:t>
            </a:r>
            <a:r>
              <a:rPr lang="en-IN" sz="1100" dirty="0">
                <a:solidFill>
                  <a:schemeClr val="accent1"/>
                </a:solidFill>
              </a:rPr>
              <a:t>    ”</a:t>
            </a:r>
            <a:r>
              <a:rPr lang="en-US" sz="1100" dirty="0">
                <a:solidFill>
                  <a:schemeClr val="accent1"/>
                </a:solidFill>
              </a:rPr>
              <a:t>https://192.168.33.23”</a:t>
            </a:r>
            <a:endParaRPr lang="en-IN" sz="1100" dirty="0">
              <a:solidFill>
                <a:schemeClr val="accent1"/>
              </a:solidFill>
            </a:endParaRPr>
          </a:p>
          <a:p>
            <a:pPr>
              <a:lnSpc>
                <a:spcPts val="1520"/>
              </a:lnSpc>
            </a:pPr>
            <a:r>
              <a:rPr lang="en-IN" sz="1100" b="1" dirty="0">
                <a:solidFill>
                  <a:schemeClr val="accent1"/>
                </a:solidFill>
              </a:rPr>
              <a:t>capabilities:    </a:t>
            </a:r>
            <a:r>
              <a:rPr lang="en-IN" sz="1100" dirty="0">
                <a:solidFill>
                  <a:schemeClr val="accent1"/>
                </a:solidFill>
              </a:rPr>
              <a:t>[  searchHotels,</a:t>
            </a:r>
            <a:br>
              <a:rPr lang="en-IN" sz="1100" dirty="0">
                <a:solidFill>
                  <a:schemeClr val="accent1"/>
                </a:solidFill>
              </a:rPr>
            </a:br>
            <a:r>
              <a:rPr lang="en-IN" sz="1100" dirty="0">
                <a:solidFill>
                  <a:schemeClr val="accent1"/>
                </a:solidFill>
              </a:rPr>
              <a:t> 	    getHotelDetails,</a:t>
            </a:r>
            <a:br>
              <a:rPr lang="en-IN" sz="1100" dirty="0">
                <a:solidFill>
                  <a:schemeClr val="accent1"/>
                </a:solidFill>
              </a:rPr>
            </a:br>
            <a:r>
              <a:rPr lang="en-IN" sz="1100" dirty="0">
                <a:solidFill>
                  <a:schemeClr val="accent1"/>
                </a:solidFill>
              </a:rPr>
              <a:t>	    createBooking, </a:t>
            </a:r>
            <a:br>
              <a:rPr lang="en-IN" sz="1100" dirty="0">
                <a:solidFill>
                  <a:schemeClr val="accent1"/>
                </a:solidFill>
              </a:rPr>
            </a:br>
            <a:r>
              <a:rPr lang="en-IN" sz="1100" dirty="0">
                <a:solidFill>
                  <a:schemeClr val="accent1"/>
                </a:solidFill>
              </a:rPr>
              <a:t>	    cancelBooking, </a:t>
            </a:r>
            <a:br>
              <a:rPr lang="en-IN" sz="1100" dirty="0">
                <a:solidFill>
                  <a:schemeClr val="accent1"/>
                </a:solidFill>
              </a:rPr>
            </a:br>
            <a:r>
              <a:rPr lang="en-IN" sz="1100" dirty="0">
                <a:solidFill>
                  <a:schemeClr val="accent1"/>
                </a:solidFill>
              </a:rPr>
              <a:t>	    getBookingStatus</a:t>
            </a:r>
            <a:br>
              <a:rPr lang="en-IN" sz="1100" dirty="0">
                <a:solidFill>
                  <a:schemeClr val="accent1"/>
                </a:solidFill>
              </a:rPr>
            </a:br>
            <a:r>
              <a:rPr lang="en-IN" sz="1100" dirty="0">
                <a:solidFill>
                  <a:schemeClr val="accent1"/>
                </a:solidFill>
              </a:rPr>
              <a:t>	 ]</a:t>
            </a:r>
          </a:p>
        </p:txBody>
      </p:sp>
      <p:sp>
        <p:nvSpPr>
          <p:cNvPr id="42" name="TextBox 41">
            <a:extLst>
              <a:ext uri="{FF2B5EF4-FFF2-40B4-BE49-F238E27FC236}">
                <a16:creationId xmlns:a16="http://schemas.microsoft.com/office/drawing/2014/main" id="{7B5F4CA7-FA87-7C62-40FB-D193440B06AF}"/>
              </a:ext>
            </a:extLst>
          </p:cNvPr>
          <p:cNvSpPr txBox="1"/>
          <p:nvPr/>
        </p:nvSpPr>
        <p:spPr>
          <a:xfrm>
            <a:off x="9071049" y="3918581"/>
            <a:ext cx="2633543" cy="2199256"/>
          </a:xfrm>
          <a:prstGeom prst="rect">
            <a:avLst/>
          </a:prstGeom>
          <a:solidFill>
            <a:srgbClr val="CBFBD2"/>
          </a:solidFill>
        </p:spPr>
        <p:txBody>
          <a:bodyPr wrap="square" rtlCol="0">
            <a:spAutoFit/>
          </a:bodyPr>
          <a:lstStyle/>
          <a:p>
            <a:pPr algn="ctr">
              <a:lnSpc>
                <a:spcPts val="1520"/>
              </a:lnSpc>
            </a:pPr>
            <a:r>
              <a:rPr lang="en-IN" sz="1100" b="1" dirty="0">
                <a:solidFill>
                  <a:schemeClr val="accent1"/>
                </a:solidFill>
              </a:rPr>
              <a:t>AGENT CARD</a:t>
            </a:r>
          </a:p>
          <a:p>
            <a:pPr>
              <a:lnSpc>
                <a:spcPts val="1520"/>
              </a:lnSpc>
            </a:pPr>
            <a:br>
              <a:rPr lang="en-IN" sz="1100" b="1" dirty="0">
                <a:solidFill>
                  <a:schemeClr val="accent1"/>
                </a:solidFill>
              </a:rPr>
            </a:br>
            <a:r>
              <a:rPr lang="en-IN" sz="1100" b="1" dirty="0">
                <a:solidFill>
                  <a:schemeClr val="accent1"/>
                </a:solidFill>
              </a:rPr>
              <a:t>name:    </a:t>
            </a:r>
            <a:r>
              <a:rPr lang="en-IN" sz="1100" dirty="0">
                <a:solidFill>
                  <a:schemeClr val="accent1"/>
                </a:solidFill>
              </a:rPr>
              <a:t>”Flight Booking Agent",</a:t>
            </a:r>
          </a:p>
          <a:p>
            <a:pPr>
              <a:lnSpc>
                <a:spcPts val="1520"/>
              </a:lnSpc>
            </a:pPr>
            <a:r>
              <a:rPr lang="en-IN" sz="1100" b="1" dirty="0">
                <a:solidFill>
                  <a:schemeClr val="accent1"/>
                </a:solidFill>
              </a:rPr>
              <a:t>description:    </a:t>
            </a:r>
            <a:r>
              <a:rPr lang="en-IN" sz="1100" dirty="0">
                <a:solidFill>
                  <a:schemeClr val="accent1"/>
                </a:solidFill>
              </a:rPr>
              <a:t>“handles flight booking” </a:t>
            </a:r>
            <a:br>
              <a:rPr lang="en-IN" sz="1100" dirty="0">
                <a:solidFill>
                  <a:schemeClr val="accent1"/>
                </a:solidFill>
              </a:rPr>
            </a:br>
            <a:r>
              <a:rPr lang="en-IN" sz="1100" b="1" dirty="0">
                <a:solidFill>
                  <a:schemeClr val="accent1"/>
                </a:solidFill>
              </a:rPr>
              <a:t>url:</a:t>
            </a:r>
            <a:r>
              <a:rPr lang="en-IN" sz="1100" dirty="0">
                <a:solidFill>
                  <a:schemeClr val="accent1"/>
                </a:solidFill>
              </a:rPr>
              <a:t>    ”</a:t>
            </a:r>
            <a:r>
              <a:rPr lang="en-US" sz="1100" dirty="0">
                <a:solidFill>
                  <a:schemeClr val="accent1"/>
                </a:solidFill>
              </a:rPr>
              <a:t>https://192.168.33.23”</a:t>
            </a:r>
            <a:endParaRPr lang="en-IN" sz="1100" dirty="0">
              <a:solidFill>
                <a:schemeClr val="accent1"/>
              </a:solidFill>
            </a:endParaRPr>
          </a:p>
          <a:p>
            <a:pPr>
              <a:lnSpc>
                <a:spcPts val="1520"/>
              </a:lnSpc>
            </a:pPr>
            <a:r>
              <a:rPr lang="en-IN" sz="1100" b="1" dirty="0">
                <a:solidFill>
                  <a:schemeClr val="accent1"/>
                </a:solidFill>
              </a:rPr>
              <a:t>capabilities:    </a:t>
            </a:r>
            <a:r>
              <a:rPr lang="en-IN" sz="1100" dirty="0">
                <a:solidFill>
                  <a:schemeClr val="accent1"/>
                </a:solidFill>
              </a:rPr>
              <a:t>[  searchFlights,</a:t>
            </a:r>
            <a:br>
              <a:rPr lang="en-IN" sz="1100" dirty="0">
                <a:solidFill>
                  <a:schemeClr val="accent1"/>
                </a:solidFill>
              </a:rPr>
            </a:br>
            <a:r>
              <a:rPr lang="en-IN" sz="1100" dirty="0">
                <a:solidFill>
                  <a:schemeClr val="accent1"/>
                </a:solidFill>
              </a:rPr>
              <a:t> 	    getFlightDetails,</a:t>
            </a:r>
            <a:br>
              <a:rPr lang="en-IN" sz="1100" dirty="0">
                <a:solidFill>
                  <a:schemeClr val="accent1"/>
                </a:solidFill>
              </a:rPr>
            </a:br>
            <a:r>
              <a:rPr lang="en-IN" sz="1100" dirty="0">
                <a:solidFill>
                  <a:schemeClr val="accent1"/>
                </a:solidFill>
              </a:rPr>
              <a:t>	    createBooking, </a:t>
            </a:r>
            <a:br>
              <a:rPr lang="en-IN" sz="1100" dirty="0">
                <a:solidFill>
                  <a:schemeClr val="accent1"/>
                </a:solidFill>
              </a:rPr>
            </a:br>
            <a:r>
              <a:rPr lang="en-IN" sz="1100" dirty="0">
                <a:solidFill>
                  <a:schemeClr val="accent1"/>
                </a:solidFill>
              </a:rPr>
              <a:t>	    cancelBooking, </a:t>
            </a:r>
            <a:br>
              <a:rPr lang="en-IN" sz="1100" dirty="0">
                <a:solidFill>
                  <a:schemeClr val="accent1"/>
                </a:solidFill>
              </a:rPr>
            </a:br>
            <a:r>
              <a:rPr lang="en-IN" sz="1100" dirty="0">
                <a:solidFill>
                  <a:schemeClr val="accent1"/>
                </a:solidFill>
              </a:rPr>
              <a:t>	    getBookingStatus</a:t>
            </a:r>
            <a:br>
              <a:rPr lang="en-IN" sz="1100" dirty="0">
                <a:solidFill>
                  <a:schemeClr val="accent1"/>
                </a:solidFill>
              </a:rPr>
            </a:br>
            <a:r>
              <a:rPr lang="en-IN" sz="1100" dirty="0">
                <a:solidFill>
                  <a:schemeClr val="accent1"/>
                </a:solidFill>
              </a:rPr>
              <a:t>	 ]</a:t>
            </a:r>
          </a:p>
        </p:txBody>
      </p:sp>
      <p:sp>
        <p:nvSpPr>
          <p:cNvPr id="43" name="Right Arrow 42">
            <a:extLst>
              <a:ext uri="{FF2B5EF4-FFF2-40B4-BE49-F238E27FC236}">
                <a16:creationId xmlns:a16="http://schemas.microsoft.com/office/drawing/2014/main" id="{1D1F74FD-4907-6522-2CAB-6DCFE6B257FD}"/>
              </a:ext>
            </a:extLst>
          </p:cNvPr>
          <p:cNvSpPr/>
          <p:nvPr/>
        </p:nvSpPr>
        <p:spPr>
          <a:xfrm>
            <a:off x="8811790" y="655524"/>
            <a:ext cx="313631" cy="169277"/>
          </a:xfrm>
          <a:prstGeom prst="righ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44" name="Right Arrow 43">
            <a:extLst>
              <a:ext uri="{FF2B5EF4-FFF2-40B4-BE49-F238E27FC236}">
                <a16:creationId xmlns:a16="http://schemas.microsoft.com/office/drawing/2014/main" id="{EAEA1F1D-3BB0-412F-0B1B-97F5B6252C66}"/>
              </a:ext>
            </a:extLst>
          </p:cNvPr>
          <p:cNvSpPr/>
          <p:nvPr/>
        </p:nvSpPr>
        <p:spPr>
          <a:xfrm>
            <a:off x="8808072" y="4279437"/>
            <a:ext cx="313631" cy="169277"/>
          </a:xfrm>
          <a:prstGeom prst="righ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46" name="TextBox 45">
            <a:extLst>
              <a:ext uri="{FF2B5EF4-FFF2-40B4-BE49-F238E27FC236}">
                <a16:creationId xmlns:a16="http://schemas.microsoft.com/office/drawing/2014/main" id="{419B5505-B99E-E0F3-76DF-4CFE6EBA3068}"/>
              </a:ext>
            </a:extLst>
          </p:cNvPr>
          <p:cNvSpPr txBox="1"/>
          <p:nvPr/>
        </p:nvSpPr>
        <p:spPr>
          <a:xfrm rot="19732494">
            <a:off x="3704891" y="1579083"/>
            <a:ext cx="1762045" cy="276999"/>
          </a:xfrm>
          <a:prstGeom prst="rect">
            <a:avLst/>
          </a:prstGeom>
          <a:noFill/>
        </p:spPr>
        <p:txBody>
          <a:bodyPr wrap="square" rtlCol="0">
            <a:spAutoFit/>
          </a:bodyPr>
          <a:lstStyle/>
          <a:p>
            <a:r>
              <a:rPr lang="en-US" sz="1200" dirty="0"/>
              <a:t>Discover Capabilities</a:t>
            </a:r>
          </a:p>
        </p:txBody>
      </p:sp>
      <p:cxnSp>
        <p:nvCxnSpPr>
          <p:cNvPr id="49" name="Straight Arrow Connector 48">
            <a:extLst>
              <a:ext uri="{FF2B5EF4-FFF2-40B4-BE49-F238E27FC236}">
                <a16:creationId xmlns:a16="http://schemas.microsoft.com/office/drawing/2014/main" id="{64E66D82-2EA8-DEF0-D18E-B5B0002CE549}"/>
              </a:ext>
            </a:extLst>
          </p:cNvPr>
          <p:cNvCxnSpPr/>
          <p:nvPr/>
        </p:nvCxnSpPr>
        <p:spPr>
          <a:xfrm flipV="1">
            <a:off x="3204124" y="967293"/>
            <a:ext cx="3051712" cy="1903505"/>
          </a:xfrm>
          <a:prstGeom prst="straightConnector1">
            <a:avLst/>
          </a:prstGeom>
          <a:ln>
            <a:prstDash val="dash"/>
            <a:tailEnd type="triangle"/>
          </a:ln>
        </p:spPr>
        <p:style>
          <a:lnRef idx="2">
            <a:schemeClr val="accent1"/>
          </a:lnRef>
          <a:fillRef idx="0">
            <a:schemeClr val="accent1"/>
          </a:fillRef>
          <a:effectRef idx="1">
            <a:schemeClr val="accent1"/>
          </a:effectRef>
          <a:fontRef idx="minor">
            <a:schemeClr val="tx1"/>
          </a:fontRef>
        </p:style>
      </p:cxnSp>
      <p:cxnSp>
        <p:nvCxnSpPr>
          <p:cNvPr id="50" name="Straight Arrow Connector 49">
            <a:extLst>
              <a:ext uri="{FF2B5EF4-FFF2-40B4-BE49-F238E27FC236}">
                <a16:creationId xmlns:a16="http://schemas.microsoft.com/office/drawing/2014/main" id="{18B70897-BFDD-EA5D-4EA7-F8D8034C01D6}"/>
              </a:ext>
            </a:extLst>
          </p:cNvPr>
          <p:cNvCxnSpPr>
            <a:cxnSpLocks/>
          </p:cNvCxnSpPr>
          <p:nvPr/>
        </p:nvCxnSpPr>
        <p:spPr>
          <a:xfrm>
            <a:off x="3166498" y="4069313"/>
            <a:ext cx="3054434" cy="1654978"/>
          </a:xfrm>
          <a:prstGeom prst="straightConnector1">
            <a:avLst/>
          </a:prstGeom>
          <a:ln>
            <a:prstDash val="dash"/>
            <a:tailEnd type="triangle"/>
          </a:ln>
        </p:spPr>
        <p:style>
          <a:lnRef idx="2">
            <a:schemeClr val="accent1"/>
          </a:lnRef>
          <a:fillRef idx="0">
            <a:schemeClr val="accent1"/>
          </a:fillRef>
          <a:effectRef idx="1">
            <a:schemeClr val="accent1"/>
          </a:effectRef>
          <a:fontRef idx="minor">
            <a:schemeClr val="tx1"/>
          </a:fontRef>
        </p:style>
      </p:cxnSp>
      <p:sp>
        <p:nvSpPr>
          <p:cNvPr id="53" name="TextBox 52">
            <a:extLst>
              <a:ext uri="{FF2B5EF4-FFF2-40B4-BE49-F238E27FC236}">
                <a16:creationId xmlns:a16="http://schemas.microsoft.com/office/drawing/2014/main" id="{E17603DB-72C3-C8F0-F7E5-BD59C1F28182}"/>
              </a:ext>
            </a:extLst>
          </p:cNvPr>
          <p:cNvSpPr txBox="1"/>
          <p:nvPr/>
        </p:nvSpPr>
        <p:spPr>
          <a:xfrm rot="1747232">
            <a:off x="3702761" y="4965773"/>
            <a:ext cx="1762045" cy="276999"/>
          </a:xfrm>
          <a:prstGeom prst="rect">
            <a:avLst/>
          </a:prstGeom>
          <a:noFill/>
        </p:spPr>
        <p:txBody>
          <a:bodyPr wrap="square" rtlCol="0">
            <a:spAutoFit/>
          </a:bodyPr>
          <a:lstStyle/>
          <a:p>
            <a:r>
              <a:rPr lang="en-US" sz="1200" dirty="0"/>
              <a:t>Discover Capabilities</a:t>
            </a:r>
          </a:p>
        </p:txBody>
      </p:sp>
      <p:sp>
        <p:nvSpPr>
          <p:cNvPr id="54" name="TextBox 53">
            <a:extLst>
              <a:ext uri="{FF2B5EF4-FFF2-40B4-BE49-F238E27FC236}">
                <a16:creationId xmlns:a16="http://schemas.microsoft.com/office/drawing/2014/main" id="{34E972CA-3BBE-5D4D-2BE3-124C3483FA2A}"/>
              </a:ext>
            </a:extLst>
          </p:cNvPr>
          <p:cNvSpPr txBox="1"/>
          <p:nvPr/>
        </p:nvSpPr>
        <p:spPr>
          <a:xfrm>
            <a:off x="289930" y="170123"/>
            <a:ext cx="6094140" cy="461665"/>
          </a:xfrm>
          <a:prstGeom prst="rect">
            <a:avLst/>
          </a:prstGeom>
          <a:noFill/>
        </p:spPr>
        <p:txBody>
          <a:bodyPr wrap="square">
            <a:spAutoFit/>
          </a:bodyPr>
          <a:lstStyle/>
          <a:p>
            <a:pPr algn="l">
              <a:buNone/>
            </a:pPr>
            <a:r>
              <a:rPr lang="en-IN" sz="2400" b="1" dirty="0">
                <a:solidFill>
                  <a:schemeClr val="accent1"/>
                </a:solidFill>
              </a:rPr>
              <a:t>A2A – Landscape</a:t>
            </a:r>
          </a:p>
        </p:txBody>
      </p:sp>
    </p:spTree>
    <p:extLst>
      <p:ext uri="{BB962C8B-B14F-4D97-AF65-F5344CB8AC3E}">
        <p14:creationId xmlns:p14="http://schemas.microsoft.com/office/powerpoint/2010/main" val="4254404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5"/>
                                        </p:tgtEl>
                                        <p:attrNameLst>
                                          <p:attrName>style.visibility</p:attrName>
                                        </p:attrNameLst>
                                      </p:cBhvr>
                                      <p:to>
                                        <p:strVal val="visible"/>
                                      </p:to>
                                    </p:set>
                                    <p:animEffect transition="in" filter="blinds(horizontal)">
                                      <p:cBhvr>
                                        <p:cTn id="47" dur="500"/>
                                        <p:tgtEl>
                                          <p:spTgt spid="25"/>
                                        </p:tgtEl>
                                      </p:cBhvr>
                                    </p:animEffec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0"/>
                                          </p:stCondLst>
                                        </p:cTn>
                                        <p:tgtEl>
                                          <p:spTgt spid="49"/>
                                        </p:tgtEl>
                                        <p:attrNameLst>
                                          <p:attrName>style.visibility</p:attrName>
                                        </p:attrNameLst>
                                      </p:cBhvr>
                                      <p:to>
                                        <p:strVal val="visible"/>
                                      </p:to>
                                    </p:set>
                                  </p:childTnLst>
                                </p:cTn>
                              </p:par>
                              <p:par>
                                <p:cTn id="52" presetID="1" presetClass="entr" presetSubtype="0" fill="hold" grpId="1" nodeType="withEffect">
                                  <p:stCondLst>
                                    <p:cond delay="0"/>
                                  </p:stCondLst>
                                  <p:childTnLst>
                                    <p:set>
                                      <p:cBhvr>
                                        <p:cTn id="53" dur="1" fill="hold">
                                          <p:stCondLst>
                                            <p:cond delay="0"/>
                                          </p:stCondLst>
                                        </p:cTn>
                                        <p:tgtEl>
                                          <p:spTgt spid="46"/>
                                        </p:tgtEl>
                                        <p:attrNameLst>
                                          <p:attrName>style.visibility</p:attrName>
                                        </p:attrNameLst>
                                      </p:cBhvr>
                                      <p:to>
                                        <p:strVal val="visible"/>
                                      </p:to>
                                    </p:set>
                                  </p:childTnLst>
                                </p:cTn>
                              </p:par>
                              <p:par>
                                <p:cTn id="54" presetID="1" presetClass="entr" presetSubtype="0" fill="hold" nodeType="withEffect">
                                  <p:stCondLst>
                                    <p:cond delay="0"/>
                                  </p:stCondLst>
                                  <p:childTnLst>
                                    <p:set>
                                      <p:cBhvr>
                                        <p:cTn id="55" dur="1" fill="hold">
                                          <p:stCondLst>
                                            <p:cond delay="0"/>
                                          </p:stCondLst>
                                        </p:cTn>
                                        <p:tgtEl>
                                          <p:spTgt spid="50"/>
                                        </p:tgtEl>
                                        <p:attrNameLst>
                                          <p:attrName>style.visibility</p:attrName>
                                        </p:attrNameLst>
                                      </p:cBhvr>
                                      <p:to>
                                        <p:strVal val="visible"/>
                                      </p:to>
                                    </p:set>
                                  </p:childTnLst>
                                </p:cTn>
                              </p:par>
                              <p:par>
                                <p:cTn id="56" presetID="1" presetClass="entr" presetSubtype="0" fill="hold" grpId="1" nodeType="withEffect">
                                  <p:stCondLst>
                                    <p:cond delay="0"/>
                                  </p:stCondLst>
                                  <p:childTnLst>
                                    <p:set>
                                      <p:cBhvr>
                                        <p:cTn id="57" dur="1" fill="hold">
                                          <p:stCondLst>
                                            <p:cond delay="0"/>
                                          </p:stCondLst>
                                        </p:cTn>
                                        <p:tgtEl>
                                          <p:spTgt spid="53"/>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35"/>
                                        </p:tgtEl>
                                        <p:attrNameLst>
                                          <p:attrName>style.visibility</p:attrName>
                                        </p:attrNameLst>
                                      </p:cBhvr>
                                      <p:to>
                                        <p:strVal val="visible"/>
                                      </p:to>
                                    </p:set>
                                    <p:animEffect transition="in" filter="blinds(horizontal)">
                                      <p:cBhvr>
                                        <p:cTn id="62" dur="500"/>
                                        <p:tgtEl>
                                          <p:spTgt spid="35"/>
                                        </p:tgtEl>
                                      </p:cBhvr>
                                    </p:animEffect>
                                  </p:childTnLst>
                                </p:cTn>
                              </p:par>
                              <p:par>
                                <p:cTn id="63" presetID="3" presetClass="entr" presetSubtype="10" fill="hold" nodeType="withEffect">
                                  <p:stCondLst>
                                    <p:cond delay="0"/>
                                  </p:stCondLst>
                                  <p:childTnLst>
                                    <p:set>
                                      <p:cBhvr>
                                        <p:cTn id="64" dur="1" fill="hold">
                                          <p:stCondLst>
                                            <p:cond delay="0"/>
                                          </p:stCondLst>
                                        </p:cTn>
                                        <p:tgtEl>
                                          <p:spTgt spid="30"/>
                                        </p:tgtEl>
                                        <p:attrNameLst>
                                          <p:attrName>style.visibility</p:attrName>
                                        </p:attrNameLst>
                                      </p:cBhvr>
                                      <p:to>
                                        <p:strVal val="visible"/>
                                      </p:to>
                                    </p:set>
                                    <p:animEffect transition="in" filter="blinds(horizontal)">
                                      <p:cBhvr>
                                        <p:cTn id="65" dur="500"/>
                                        <p:tgtEl>
                                          <p:spTgt spid="30"/>
                                        </p:tgtEl>
                                      </p:cBhvr>
                                    </p:animEffect>
                                  </p:childTnLst>
                                </p:cTn>
                              </p:par>
                              <p:par>
                                <p:cTn id="66" presetID="3" presetClass="entr" presetSubtype="10" fill="hold" grpId="0" nodeType="withEffect">
                                  <p:stCondLst>
                                    <p:cond delay="0"/>
                                  </p:stCondLst>
                                  <p:childTnLst>
                                    <p:set>
                                      <p:cBhvr>
                                        <p:cTn id="67" dur="1" fill="hold">
                                          <p:stCondLst>
                                            <p:cond delay="0"/>
                                          </p:stCondLst>
                                        </p:cTn>
                                        <p:tgtEl>
                                          <p:spTgt spid="38"/>
                                        </p:tgtEl>
                                        <p:attrNameLst>
                                          <p:attrName>style.visibility</p:attrName>
                                        </p:attrNameLst>
                                      </p:cBhvr>
                                      <p:to>
                                        <p:strVal val="visible"/>
                                      </p:to>
                                    </p:set>
                                    <p:animEffect transition="in" filter="blinds(horizontal)">
                                      <p:cBhvr>
                                        <p:cTn id="68" dur="500"/>
                                        <p:tgtEl>
                                          <p:spTgt spid="38"/>
                                        </p:tgtEl>
                                      </p:cBhvr>
                                    </p:animEffect>
                                  </p:childTnLst>
                                </p:cTn>
                              </p:par>
                              <p:par>
                                <p:cTn id="69" presetID="3" presetClass="entr" presetSubtype="10" fill="hold" grpId="0" nodeType="withEffect">
                                  <p:stCondLst>
                                    <p:cond delay="0"/>
                                  </p:stCondLst>
                                  <p:childTnLst>
                                    <p:set>
                                      <p:cBhvr>
                                        <p:cTn id="70" dur="1" fill="hold">
                                          <p:stCondLst>
                                            <p:cond delay="0"/>
                                          </p:stCondLst>
                                        </p:cTn>
                                        <p:tgtEl>
                                          <p:spTgt spid="39"/>
                                        </p:tgtEl>
                                        <p:attrNameLst>
                                          <p:attrName>style.visibility</p:attrName>
                                        </p:attrNameLst>
                                      </p:cBhvr>
                                      <p:to>
                                        <p:strVal val="visible"/>
                                      </p:to>
                                    </p:set>
                                    <p:animEffect transition="in" filter="blinds(horizontal)">
                                      <p:cBhvr>
                                        <p:cTn id="71" dur="500"/>
                                        <p:tgtEl>
                                          <p:spTgt spid="39"/>
                                        </p:tgtEl>
                                      </p:cBhvr>
                                    </p:animEffect>
                                  </p:childTnLst>
                                </p:cTn>
                              </p:par>
                              <p:par>
                                <p:cTn id="72" presetID="3" presetClass="entr" presetSubtype="10" fill="hold" nodeType="withEffect">
                                  <p:stCondLst>
                                    <p:cond delay="0"/>
                                  </p:stCondLst>
                                  <p:childTnLst>
                                    <p:set>
                                      <p:cBhvr>
                                        <p:cTn id="73" dur="1" fill="hold">
                                          <p:stCondLst>
                                            <p:cond delay="0"/>
                                          </p:stCondLst>
                                        </p:cTn>
                                        <p:tgtEl>
                                          <p:spTgt spid="31"/>
                                        </p:tgtEl>
                                        <p:attrNameLst>
                                          <p:attrName>style.visibility</p:attrName>
                                        </p:attrNameLst>
                                      </p:cBhvr>
                                      <p:to>
                                        <p:strVal val="visible"/>
                                      </p:to>
                                    </p:set>
                                    <p:animEffect transition="in" filter="blinds(horizontal)">
                                      <p:cBhvr>
                                        <p:cTn id="74" dur="500"/>
                                        <p:tgtEl>
                                          <p:spTgt spid="31"/>
                                        </p:tgtEl>
                                      </p:cBhvr>
                                    </p:animEffect>
                                  </p:childTnLst>
                                </p:cTn>
                              </p:par>
                              <p:par>
                                <p:cTn id="75" presetID="3" presetClass="entr" presetSubtype="10" fill="hold" grpId="0" nodeType="withEffect">
                                  <p:stCondLst>
                                    <p:cond delay="0"/>
                                  </p:stCondLst>
                                  <p:childTnLst>
                                    <p:set>
                                      <p:cBhvr>
                                        <p:cTn id="76" dur="1" fill="hold">
                                          <p:stCondLst>
                                            <p:cond delay="0"/>
                                          </p:stCondLst>
                                        </p:cTn>
                                        <p:tgtEl>
                                          <p:spTgt spid="36"/>
                                        </p:tgtEl>
                                        <p:attrNameLst>
                                          <p:attrName>style.visibility</p:attrName>
                                        </p:attrNameLst>
                                      </p:cBhvr>
                                      <p:to>
                                        <p:strVal val="visible"/>
                                      </p:to>
                                    </p:set>
                                    <p:animEffect transition="in" filter="blinds(horizontal)">
                                      <p:cBhvr>
                                        <p:cTn id="77"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6" grpId="0" animBg="1"/>
      <p:bldP spid="9" grpId="0" animBg="1"/>
      <p:bldP spid="13" grpId="0"/>
      <p:bldP spid="14" grpId="0"/>
      <p:bldP spid="19" grpId="0" animBg="1"/>
      <p:bldP spid="21" grpId="0"/>
      <p:bldP spid="22" grpId="0"/>
      <p:bldP spid="23" grpId="0"/>
      <p:bldP spid="24" grpId="0"/>
      <p:bldP spid="25" grpId="0"/>
      <p:bldP spid="27" grpId="0"/>
      <p:bldP spid="28" grpId="0"/>
      <p:bldP spid="35" grpId="0"/>
      <p:bldP spid="36" grpId="0"/>
      <p:bldP spid="38" grpId="0" animBg="1"/>
      <p:bldP spid="39" grpId="0" animBg="1"/>
      <p:bldP spid="40" grpId="0" animBg="1"/>
      <p:bldP spid="42" grpId="0" animBg="1"/>
      <p:bldP spid="43" grpId="0" animBg="1"/>
      <p:bldP spid="44" grpId="0" animBg="1"/>
      <p:bldP spid="46" grpId="1"/>
      <p:bldP spid="53" grpId="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1C6A91-1FA0-4870-9149-F3D0228F4384}"/>
            </a:ext>
          </a:extLst>
        </p:cNvPr>
        <p:cNvGrpSpPr/>
        <p:nvPr/>
      </p:nvGrpSpPr>
      <p:grpSpPr>
        <a:xfrm>
          <a:off x="0" y="0"/>
          <a:ext cx="0" cy="0"/>
          <a:chOff x="0" y="0"/>
          <a:chExt cx="0" cy="0"/>
        </a:xfrm>
      </p:grpSpPr>
      <p:sp>
        <p:nvSpPr>
          <p:cNvPr id="12" name="Rounded Rectangle 11">
            <a:extLst>
              <a:ext uri="{FF2B5EF4-FFF2-40B4-BE49-F238E27FC236}">
                <a16:creationId xmlns:a16="http://schemas.microsoft.com/office/drawing/2014/main" id="{8DD01D7C-9E0A-A926-930E-8D1D0340E6E7}"/>
              </a:ext>
            </a:extLst>
          </p:cNvPr>
          <p:cNvSpPr/>
          <p:nvPr/>
        </p:nvSpPr>
        <p:spPr>
          <a:xfrm>
            <a:off x="7989844" y="1494356"/>
            <a:ext cx="2630761" cy="386928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16" name="Rounded Rectangle 15">
            <a:extLst>
              <a:ext uri="{FF2B5EF4-FFF2-40B4-BE49-F238E27FC236}">
                <a16:creationId xmlns:a16="http://schemas.microsoft.com/office/drawing/2014/main" id="{04AC2498-7304-DC19-7F53-82B42B8B2886}"/>
              </a:ext>
            </a:extLst>
          </p:cNvPr>
          <p:cNvSpPr/>
          <p:nvPr/>
        </p:nvSpPr>
        <p:spPr>
          <a:xfrm>
            <a:off x="8264911" y="2661285"/>
            <a:ext cx="1986776" cy="2366703"/>
          </a:xfrm>
          <a:prstGeom prst="roundRect">
            <a:avLst/>
          </a:prstGeom>
          <a:solidFill>
            <a:schemeClr val="accent4">
              <a:lumMod val="40000"/>
              <a:lumOff val="60000"/>
            </a:schemeClr>
          </a:solidFill>
          <a:ln>
            <a:solidFill>
              <a:srgbClr val="00B0F0"/>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US"/>
          </a:p>
        </p:txBody>
      </p:sp>
      <p:sp>
        <p:nvSpPr>
          <p:cNvPr id="4" name="Rounded Rectangle 3">
            <a:extLst>
              <a:ext uri="{FF2B5EF4-FFF2-40B4-BE49-F238E27FC236}">
                <a16:creationId xmlns:a16="http://schemas.microsoft.com/office/drawing/2014/main" id="{B9A37E18-AC08-07C4-35A6-358DBD903598}"/>
              </a:ext>
            </a:extLst>
          </p:cNvPr>
          <p:cNvSpPr/>
          <p:nvPr/>
        </p:nvSpPr>
        <p:spPr>
          <a:xfrm>
            <a:off x="1571395" y="1494356"/>
            <a:ext cx="1650380" cy="3899422"/>
          </a:xfrm>
          <a:prstGeom prst="roundRect">
            <a:avLst/>
          </a:prstGeom>
          <a:solidFill>
            <a:schemeClr val="tx2">
              <a:lumMod val="10000"/>
              <a:lumOff val="90000"/>
            </a:schemeClr>
          </a:solidFill>
          <a:ln>
            <a:solidFill>
              <a:schemeClr val="tx2">
                <a:lumMod val="50000"/>
                <a:lumOff val="5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tx1"/>
                </a:solidFill>
              </a:rPr>
              <a:t>Host Agent</a:t>
            </a:r>
          </a:p>
          <a:p>
            <a:pPr algn="ctr"/>
            <a:endParaRPr lang="en-US" dirty="0">
              <a:solidFill>
                <a:schemeClr val="tx1"/>
              </a:solidFill>
            </a:endParaRPr>
          </a:p>
          <a:p>
            <a:pPr algn="ctr"/>
            <a:r>
              <a:rPr lang="en-US" sz="1400" dirty="0">
                <a:solidFill>
                  <a:schemeClr val="tx1"/>
                </a:solidFill>
              </a:rPr>
              <a:t>A2A Client</a:t>
            </a:r>
          </a:p>
        </p:txBody>
      </p:sp>
      <p:sp>
        <p:nvSpPr>
          <p:cNvPr id="6" name="Rounded Rectangle 5">
            <a:extLst>
              <a:ext uri="{FF2B5EF4-FFF2-40B4-BE49-F238E27FC236}">
                <a16:creationId xmlns:a16="http://schemas.microsoft.com/office/drawing/2014/main" id="{400DE16C-A926-021E-EEAC-F9483C036BB7}"/>
              </a:ext>
            </a:extLst>
          </p:cNvPr>
          <p:cNvSpPr/>
          <p:nvPr/>
        </p:nvSpPr>
        <p:spPr>
          <a:xfrm>
            <a:off x="8586905" y="3776378"/>
            <a:ext cx="1363235" cy="1068926"/>
          </a:xfrm>
          <a:prstGeom prst="roundRect">
            <a:avLst/>
          </a:prstGeom>
          <a:solidFill>
            <a:schemeClr val="tx2">
              <a:lumMod val="10000"/>
              <a:lumOff val="90000"/>
            </a:schemeClr>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600" dirty="0">
                <a:solidFill>
                  <a:schemeClr val="tx1"/>
                </a:solidFill>
              </a:rPr>
              <a:t>Agent 1</a:t>
            </a:r>
          </a:p>
        </p:txBody>
      </p:sp>
      <p:sp>
        <p:nvSpPr>
          <p:cNvPr id="13" name="TextBox 12">
            <a:extLst>
              <a:ext uri="{FF2B5EF4-FFF2-40B4-BE49-F238E27FC236}">
                <a16:creationId xmlns:a16="http://schemas.microsoft.com/office/drawing/2014/main" id="{86F9B333-3DB4-7EF8-395F-5DE415DFBEF7}"/>
              </a:ext>
            </a:extLst>
          </p:cNvPr>
          <p:cNvSpPr txBox="1"/>
          <p:nvPr/>
        </p:nvSpPr>
        <p:spPr>
          <a:xfrm>
            <a:off x="8672394" y="1575331"/>
            <a:ext cx="1265659" cy="338554"/>
          </a:xfrm>
          <a:prstGeom prst="rect">
            <a:avLst/>
          </a:prstGeom>
          <a:noFill/>
        </p:spPr>
        <p:txBody>
          <a:bodyPr wrap="square" rtlCol="0">
            <a:spAutoFit/>
          </a:bodyPr>
          <a:lstStyle/>
          <a:p>
            <a:r>
              <a:rPr lang="en-US" sz="1600" dirty="0">
                <a:solidFill>
                  <a:schemeClr val="accent6">
                    <a:lumMod val="75000"/>
                  </a:schemeClr>
                </a:solidFill>
              </a:rPr>
              <a:t>A2A Server</a:t>
            </a:r>
          </a:p>
        </p:txBody>
      </p:sp>
      <p:sp>
        <p:nvSpPr>
          <p:cNvPr id="21" name="TextBox 20">
            <a:extLst>
              <a:ext uri="{FF2B5EF4-FFF2-40B4-BE49-F238E27FC236}">
                <a16:creationId xmlns:a16="http://schemas.microsoft.com/office/drawing/2014/main" id="{3A4F824E-14E3-5A86-5E7E-EB13BA38DEC8}"/>
              </a:ext>
            </a:extLst>
          </p:cNvPr>
          <p:cNvSpPr txBox="1"/>
          <p:nvPr/>
        </p:nvSpPr>
        <p:spPr>
          <a:xfrm>
            <a:off x="8562270" y="3112540"/>
            <a:ext cx="1598350" cy="307777"/>
          </a:xfrm>
          <a:prstGeom prst="rect">
            <a:avLst/>
          </a:prstGeom>
          <a:noFill/>
        </p:spPr>
        <p:txBody>
          <a:bodyPr wrap="square" rtlCol="0">
            <a:spAutoFit/>
          </a:bodyPr>
          <a:lstStyle/>
          <a:p>
            <a:r>
              <a:rPr lang="en-US" sz="1400" b="1" dirty="0">
                <a:solidFill>
                  <a:schemeClr val="accent4">
                    <a:lumMod val="75000"/>
                  </a:schemeClr>
                </a:solidFill>
              </a:rPr>
              <a:t>Agent Executor</a:t>
            </a:r>
          </a:p>
        </p:txBody>
      </p:sp>
      <p:cxnSp>
        <p:nvCxnSpPr>
          <p:cNvPr id="47" name="Straight Arrow Connector 46">
            <a:extLst>
              <a:ext uri="{FF2B5EF4-FFF2-40B4-BE49-F238E27FC236}">
                <a16:creationId xmlns:a16="http://schemas.microsoft.com/office/drawing/2014/main" id="{74CE4748-94C4-D9FB-F0BE-97195C735D6D}"/>
              </a:ext>
            </a:extLst>
          </p:cNvPr>
          <p:cNvCxnSpPr/>
          <p:nvPr/>
        </p:nvCxnSpPr>
        <p:spPr>
          <a:xfrm>
            <a:off x="3255233" y="2069802"/>
            <a:ext cx="4734611" cy="0"/>
          </a:xfrm>
          <a:prstGeom prst="straightConnector1">
            <a:avLst/>
          </a:prstGeom>
          <a:ln>
            <a:solidFill>
              <a:schemeClr val="bg2">
                <a:lumMod val="50000"/>
              </a:schemeClr>
            </a:solidFill>
            <a:tailEnd type="triangle" w="lg" len="lg"/>
          </a:ln>
        </p:spPr>
        <p:style>
          <a:lnRef idx="1">
            <a:schemeClr val="dk1"/>
          </a:lnRef>
          <a:fillRef idx="0">
            <a:schemeClr val="dk1"/>
          </a:fillRef>
          <a:effectRef idx="0">
            <a:schemeClr val="dk1"/>
          </a:effectRef>
          <a:fontRef idx="minor">
            <a:schemeClr val="tx1"/>
          </a:fontRef>
        </p:style>
      </p:cxnSp>
      <p:cxnSp>
        <p:nvCxnSpPr>
          <p:cNvPr id="48" name="Straight Arrow Connector 47">
            <a:extLst>
              <a:ext uri="{FF2B5EF4-FFF2-40B4-BE49-F238E27FC236}">
                <a16:creationId xmlns:a16="http://schemas.microsoft.com/office/drawing/2014/main" id="{857FCF08-644C-B2EA-5CB9-54CD65CC34D0}"/>
              </a:ext>
            </a:extLst>
          </p:cNvPr>
          <p:cNvCxnSpPr>
            <a:cxnSpLocks/>
          </p:cNvCxnSpPr>
          <p:nvPr/>
        </p:nvCxnSpPr>
        <p:spPr>
          <a:xfrm flipH="1" flipV="1">
            <a:off x="3253369" y="2685117"/>
            <a:ext cx="4704881" cy="7533"/>
          </a:xfrm>
          <a:prstGeom prst="straightConnector1">
            <a:avLst/>
          </a:prstGeom>
          <a:ln>
            <a:solidFill>
              <a:schemeClr val="bg2">
                <a:lumMod val="50000"/>
              </a:schemeClr>
            </a:solidFill>
            <a:tailEnd type="triangle" w="lg" len="lg"/>
          </a:ln>
        </p:spPr>
        <p:style>
          <a:lnRef idx="1">
            <a:schemeClr val="dk1"/>
          </a:lnRef>
          <a:fillRef idx="0">
            <a:schemeClr val="dk1"/>
          </a:fillRef>
          <a:effectRef idx="0">
            <a:schemeClr val="dk1"/>
          </a:effectRef>
          <a:fontRef idx="minor">
            <a:schemeClr val="tx1"/>
          </a:fontRef>
        </p:style>
      </p:cxnSp>
      <p:cxnSp>
        <p:nvCxnSpPr>
          <p:cNvPr id="51" name="Straight Arrow Connector 50">
            <a:extLst>
              <a:ext uri="{FF2B5EF4-FFF2-40B4-BE49-F238E27FC236}">
                <a16:creationId xmlns:a16="http://schemas.microsoft.com/office/drawing/2014/main" id="{2C80F9AC-51D8-0CD9-ACA8-E80216A94B6D}"/>
              </a:ext>
            </a:extLst>
          </p:cNvPr>
          <p:cNvCxnSpPr>
            <a:cxnSpLocks/>
          </p:cNvCxnSpPr>
          <p:nvPr/>
        </p:nvCxnSpPr>
        <p:spPr>
          <a:xfrm flipH="1">
            <a:off x="3255701" y="4768898"/>
            <a:ext cx="4975284" cy="5897"/>
          </a:xfrm>
          <a:prstGeom prst="straightConnector1">
            <a:avLst/>
          </a:prstGeom>
          <a:ln>
            <a:solidFill>
              <a:schemeClr val="bg2">
                <a:lumMod val="50000"/>
              </a:schemeClr>
            </a:solidFill>
            <a:tailEnd type="triangle" w="lg" len="lg"/>
          </a:ln>
        </p:spPr>
        <p:style>
          <a:lnRef idx="1">
            <a:schemeClr val="dk1"/>
          </a:lnRef>
          <a:fillRef idx="0">
            <a:schemeClr val="dk1"/>
          </a:fillRef>
          <a:effectRef idx="0">
            <a:schemeClr val="dk1"/>
          </a:effectRef>
          <a:fontRef idx="minor">
            <a:schemeClr val="tx1"/>
          </a:fontRef>
        </p:style>
      </p:cxnSp>
      <p:cxnSp>
        <p:nvCxnSpPr>
          <p:cNvPr id="52" name="Straight Arrow Connector 51">
            <a:extLst>
              <a:ext uri="{FF2B5EF4-FFF2-40B4-BE49-F238E27FC236}">
                <a16:creationId xmlns:a16="http://schemas.microsoft.com/office/drawing/2014/main" id="{17CB2723-D75C-938A-8DF5-169FA59CDD07}"/>
              </a:ext>
            </a:extLst>
          </p:cNvPr>
          <p:cNvCxnSpPr>
            <a:cxnSpLocks/>
          </p:cNvCxnSpPr>
          <p:nvPr/>
        </p:nvCxnSpPr>
        <p:spPr>
          <a:xfrm>
            <a:off x="3253369" y="4310841"/>
            <a:ext cx="4979948" cy="0"/>
          </a:xfrm>
          <a:prstGeom prst="straightConnector1">
            <a:avLst/>
          </a:prstGeom>
          <a:ln>
            <a:solidFill>
              <a:schemeClr val="bg2">
                <a:lumMod val="50000"/>
              </a:schemeClr>
            </a:solidFill>
            <a:tailEnd type="triangle" w="lg" len="lg"/>
          </a:ln>
        </p:spPr>
        <p:style>
          <a:lnRef idx="1">
            <a:schemeClr val="dk1"/>
          </a:lnRef>
          <a:fillRef idx="0">
            <a:schemeClr val="dk1"/>
          </a:fillRef>
          <a:effectRef idx="0">
            <a:schemeClr val="dk1"/>
          </a:effectRef>
          <a:fontRef idx="minor">
            <a:schemeClr val="tx1"/>
          </a:fontRef>
        </p:style>
      </p:cxnSp>
      <p:sp>
        <p:nvSpPr>
          <p:cNvPr id="55" name="TextBox 54">
            <a:extLst>
              <a:ext uri="{FF2B5EF4-FFF2-40B4-BE49-F238E27FC236}">
                <a16:creationId xmlns:a16="http://schemas.microsoft.com/office/drawing/2014/main" id="{C059DBD4-CCD2-85C6-AF51-EA64D3923D13}"/>
              </a:ext>
            </a:extLst>
          </p:cNvPr>
          <p:cNvSpPr txBox="1"/>
          <p:nvPr/>
        </p:nvSpPr>
        <p:spPr>
          <a:xfrm>
            <a:off x="5144894" y="1832860"/>
            <a:ext cx="1416205" cy="246221"/>
          </a:xfrm>
          <a:prstGeom prst="rect">
            <a:avLst/>
          </a:prstGeom>
          <a:noFill/>
        </p:spPr>
        <p:txBody>
          <a:bodyPr wrap="square" rtlCol="0">
            <a:spAutoFit/>
          </a:bodyPr>
          <a:lstStyle/>
          <a:p>
            <a:r>
              <a:rPr lang="en-US" sz="1000" dirty="0"/>
              <a:t>Get Agent Card</a:t>
            </a:r>
          </a:p>
        </p:txBody>
      </p:sp>
      <p:sp>
        <p:nvSpPr>
          <p:cNvPr id="59" name="TextBox 58">
            <a:extLst>
              <a:ext uri="{FF2B5EF4-FFF2-40B4-BE49-F238E27FC236}">
                <a16:creationId xmlns:a16="http://schemas.microsoft.com/office/drawing/2014/main" id="{D04D0CB5-E053-1B4C-B8F7-92B5CBFAE382}"/>
              </a:ext>
            </a:extLst>
          </p:cNvPr>
          <p:cNvSpPr txBox="1"/>
          <p:nvPr/>
        </p:nvSpPr>
        <p:spPr>
          <a:xfrm>
            <a:off x="6052781" y="2370290"/>
            <a:ext cx="1280067" cy="1492716"/>
          </a:xfrm>
          <a:prstGeom prst="rect">
            <a:avLst/>
          </a:prstGeom>
          <a:solidFill>
            <a:schemeClr val="bg1"/>
          </a:solidFill>
          <a:ln>
            <a:solidFill>
              <a:schemeClr val="tx1">
                <a:lumMod val="65000"/>
                <a:lumOff val="35000"/>
              </a:schemeClr>
            </a:solidFill>
          </a:ln>
        </p:spPr>
        <p:txBody>
          <a:bodyPr wrap="square" rtlCol="0">
            <a:spAutoFit/>
          </a:bodyPr>
          <a:lstStyle/>
          <a:p>
            <a:r>
              <a:rPr lang="en-IN" sz="700" b="1" dirty="0">
                <a:solidFill>
                  <a:schemeClr val="tx1">
                    <a:lumMod val="75000"/>
                    <a:lumOff val="25000"/>
                  </a:schemeClr>
                </a:solidFill>
              </a:rPr>
              <a:t>name: </a:t>
            </a:r>
          </a:p>
          <a:p>
            <a:r>
              <a:rPr lang="en-IN" sz="700" dirty="0">
                <a:solidFill>
                  <a:schemeClr val="tx1">
                    <a:lumMod val="75000"/>
                    <a:lumOff val="25000"/>
                  </a:schemeClr>
                </a:solidFill>
              </a:rPr>
              <a:t>”Hotel Booking Agent",</a:t>
            </a:r>
          </a:p>
          <a:p>
            <a:r>
              <a:rPr lang="en-IN" sz="700" b="1" dirty="0">
                <a:solidFill>
                  <a:schemeClr val="tx1">
                    <a:lumMod val="75000"/>
                    <a:lumOff val="25000"/>
                  </a:schemeClr>
                </a:solidFill>
              </a:rPr>
              <a:t>description:    </a:t>
            </a:r>
          </a:p>
          <a:p>
            <a:r>
              <a:rPr lang="en-IN" sz="700" dirty="0">
                <a:solidFill>
                  <a:schemeClr val="tx1">
                    <a:lumMod val="75000"/>
                    <a:lumOff val="25000"/>
                  </a:schemeClr>
                </a:solidFill>
              </a:rPr>
              <a:t>“handles hotel booking” </a:t>
            </a:r>
            <a:br>
              <a:rPr lang="en-IN" sz="700" dirty="0">
                <a:solidFill>
                  <a:schemeClr val="tx1">
                    <a:lumMod val="75000"/>
                    <a:lumOff val="25000"/>
                  </a:schemeClr>
                </a:solidFill>
              </a:rPr>
            </a:br>
            <a:r>
              <a:rPr lang="en-IN" sz="700" b="1" dirty="0">
                <a:solidFill>
                  <a:schemeClr val="tx1">
                    <a:lumMod val="75000"/>
                    <a:lumOff val="25000"/>
                  </a:schemeClr>
                </a:solidFill>
              </a:rPr>
              <a:t>url:</a:t>
            </a:r>
            <a:r>
              <a:rPr lang="en-IN" sz="700" dirty="0">
                <a:solidFill>
                  <a:schemeClr val="tx1">
                    <a:lumMod val="75000"/>
                    <a:lumOff val="25000"/>
                  </a:schemeClr>
                </a:solidFill>
              </a:rPr>
              <a:t>    </a:t>
            </a:r>
          </a:p>
          <a:p>
            <a:r>
              <a:rPr lang="en-IN" sz="700" dirty="0">
                <a:solidFill>
                  <a:schemeClr val="tx1">
                    <a:lumMod val="75000"/>
                    <a:lumOff val="25000"/>
                  </a:schemeClr>
                </a:solidFill>
              </a:rPr>
              <a:t>”</a:t>
            </a:r>
            <a:r>
              <a:rPr lang="en-US" sz="700" dirty="0">
                <a:solidFill>
                  <a:schemeClr val="tx1">
                    <a:lumMod val="75000"/>
                    <a:lumOff val="25000"/>
                  </a:schemeClr>
                </a:solidFill>
              </a:rPr>
              <a:t>https://192.168.33.23”</a:t>
            </a:r>
            <a:endParaRPr lang="en-IN" sz="700" dirty="0">
              <a:solidFill>
                <a:schemeClr val="tx1">
                  <a:lumMod val="75000"/>
                  <a:lumOff val="25000"/>
                </a:schemeClr>
              </a:solidFill>
            </a:endParaRPr>
          </a:p>
          <a:p>
            <a:r>
              <a:rPr lang="en-IN" sz="700" b="1" dirty="0">
                <a:solidFill>
                  <a:schemeClr val="tx1">
                    <a:lumMod val="75000"/>
                    <a:lumOff val="25000"/>
                  </a:schemeClr>
                </a:solidFill>
              </a:rPr>
              <a:t>capabilities:    </a:t>
            </a:r>
            <a:br>
              <a:rPr lang="en-IN" sz="700" b="1" dirty="0">
                <a:solidFill>
                  <a:schemeClr val="tx1">
                    <a:lumMod val="75000"/>
                    <a:lumOff val="25000"/>
                  </a:schemeClr>
                </a:solidFill>
              </a:rPr>
            </a:br>
            <a:r>
              <a:rPr lang="en-IN" sz="700" dirty="0">
                <a:solidFill>
                  <a:schemeClr val="tx1">
                    <a:lumMod val="75000"/>
                    <a:lumOff val="25000"/>
                  </a:schemeClr>
                </a:solidFill>
              </a:rPr>
              <a:t>[  searchHotels,</a:t>
            </a:r>
            <a:br>
              <a:rPr lang="en-IN" sz="700" dirty="0">
                <a:solidFill>
                  <a:schemeClr val="tx1">
                    <a:lumMod val="75000"/>
                    <a:lumOff val="25000"/>
                  </a:schemeClr>
                </a:solidFill>
              </a:rPr>
            </a:br>
            <a:r>
              <a:rPr lang="en-IN" sz="700" dirty="0">
                <a:solidFill>
                  <a:schemeClr val="tx1">
                    <a:lumMod val="75000"/>
                    <a:lumOff val="25000"/>
                  </a:schemeClr>
                </a:solidFill>
              </a:rPr>
              <a:t>    getHotelDetails,</a:t>
            </a:r>
            <a:br>
              <a:rPr lang="en-IN" sz="700" dirty="0">
                <a:solidFill>
                  <a:schemeClr val="tx1">
                    <a:lumMod val="75000"/>
                    <a:lumOff val="25000"/>
                  </a:schemeClr>
                </a:solidFill>
              </a:rPr>
            </a:br>
            <a:r>
              <a:rPr lang="en-IN" sz="700" dirty="0">
                <a:solidFill>
                  <a:schemeClr val="tx1">
                    <a:lumMod val="75000"/>
                    <a:lumOff val="25000"/>
                  </a:schemeClr>
                </a:solidFill>
              </a:rPr>
              <a:t>    createBooking, </a:t>
            </a:r>
            <a:br>
              <a:rPr lang="en-IN" sz="700" dirty="0">
                <a:solidFill>
                  <a:schemeClr val="tx1">
                    <a:lumMod val="75000"/>
                    <a:lumOff val="25000"/>
                  </a:schemeClr>
                </a:solidFill>
              </a:rPr>
            </a:br>
            <a:r>
              <a:rPr lang="en-IN" sz="700" dirty="0">
                <a:solidFill>
                  <a:schemeClr val="tx1">
                    <a:lumMod val="75000"/>
                    <a:lumOff val="25000"/>
                  </a:schemeClr>
                </a:solidFill>
              </a:rPr>
              <a:t>    cancelBooking, </a:t>
            </a:r>
            <a:br>
              <a:rPr lang="en-IN" sz="700" dirty="0">
                <a:solidFill>
                  <a:schemeClr val="tx1">
                    <a:lumMod val="75000"/>
                    <a:lumOff val="25000"/>
                  </a:schemeClr>
                </a:solidFill>
              </a:rPr>
            </a:br>
            <a:r>
              <a:rPr lang="en-IN" sz="700" dirty="0">
                <a:solidFill>
                  <a:schemeClr val="tx1">
                    <a:lumMod val="75000"/>
                    <a:lumOff val="25000"/>
                  </a:schemeClr>
                </a:solidFill>
              </a:rPr>
              <a:t>    getBookingStatus </a:t>
            </a:r>
          </a:p>
          <a:p>
            <a:r>
              <a:rPr lang="en-IN" sz="700" dirty="0">
                <a:solidFill>
                  <a:schemeClr val="tx1">
                    <a:lumMod val="75000"/>
                    <a:lumOff val="25000"/>
                  </a:schemeClr>
                </a:solidFill>
              </a:rPr>
              <a:t>]</a:t>
            </a:r>
          </a:p>
        </p:txBody>
      </p:sp>
      <p:sp>
        <p:nvSpPr>
          <p:cNvPr id="60" name="TextBox 59">
            <a:extLst>
              <a:ext uri="{FF2B5EF4-FFF2-40B4-BE49-F238E27FC236}">
                <a16:creationId xmlns:a16="http://schemas.microsoft.com/office/drawing/2014/main" id="{D2FC9CB8-A556-207C-62A3-5A9CA4AE1CF1}"/>
              </a:ext>
            </a:extLst>
          </p:cNvPr>
          <p:cNvSpPr txBox="1"/>
          <p:nvPr/>
        </p:nvSpPr>
        <p:spPr>
          <a:xfrm>
            <a:off x="4931850" y="4272736"/>
            <a:ext cx="1650380" cy="246221"/>
          </a:xfrm>
          <a:prstGeom prst="rect">
            <a:avLst/>
          </a:prstGeom>
          <a:noFill/>
        </p:spPr>
        <p:txBody>
          <a:bodyPr wrap="square" rtlCol="0">
            <a:spAutoFit/>
          </a:bodyPr>
          <a:lstStyle/>
          <a:p>
            <a:r>
              <a:rPr lang="en-US" sz="1000" dirty="0"/>
              <a:t>Execute  [Search Hotels]</a:t>
            </a:r>
          </a:p>
        </p:txBody>
      </p:sp>
      <p:sp>
        <p:nvSpPr>
          <p:cNvPr id="61" name="TextBox 60">
            <a:extLst>
              <a:ext uri="{FF2B5EF4-FFF2-40B4-BE49-F238E27FC236}">
                <a16:creationId xmlns:a16="http://schemas.microsoft.com/office/drawing/2014/main" id="{398A0971-75A2-032D-0F02-4B10630328A6}"/>
              </a:ext>
            </a:extLst>
          </p:cNvPr>
          <p:cNvSpPr txBox="1"/>
          <p:nvPr/>
        </p:nvSpPr>
        <p:spPr>
          <a:xfrm>
            <a:off x="6122188" y="4799136"/>
            <a:ext cx="1566109" cy="246221"/>
          </a:xfrm>
          <a:prstGeom prst="rect">
            <a:avLst/>
          </a:prstGeom>
          <a:noFill/>
        </p:spPr>
        <p:txBody>
          <a:bodyPr wrap="square" rtlCol="0">
            <a:spAutoFit/>
          </a:bodyPr>
          <a:lstStyle/>
          <a:p>
            <a:r>
              <a:rPr lang="en-US" sz="1000" dirty="0"/>
              <a:t>Result: [Hotels]</a:t>
            </a:r>
          </a:p>
        </p:txBody>
      </p:sp>
      <p:sp>
        <p:nvSpPr>
          <p:cNvPr id="64" name="TextBox 63">
            <a:extLst>
              <a:ext uri="{FF2B5EF4-FFF2-40B4-BE49-F238E27FC236}">
                <a16:creationId xmlns:a16="http://schemas.microsoft.com/office/drawing/2014/main" id="{3B55F577-B791-1DA4-918A-AB5617EA9CB8}"/>
              </a:ext>
            </a:extLst>
          </p:cNvPr>
          <p:cNvSpPr txBox="1"/>
          <p:nvPr/>
        </p:nvSpPr>
        <p:spPr>
          <a:xfrm>
            <a:off x="4979131" y="1786693"/>
            <a:ext cx="331526" cy="338554"/>
          </a:xfrm>
          <a:prstGeom prst="rect">
            <a:avLst/>
          </a:prstGeom>
          <a:noFill/>
        </p:spPr>
        <p:txBody>
          <a:bodyPr wrap="square" rtlCol="0">
            <a:spAutoFit/>
          </a:bodyPr>
          <a:lstStyle/>
          <a:p>
            <a:r>
              <a:rPr lang="en-US" sz="1600" dirty="0"/>
              <a:t>1</a:t>
            </a:r>
          </a:p>
        </p:txBody>
      </p:sp>
      <p:sp>
        <p:nvSpPr>
          <p:cNvPr id="65" name="TextBox 64">
            <a:extLst>
              <a:ext uri="{FF2B5EF4-FFF2-40B4-BE49-F238E27FC236}">
                <a16:creationId xmlns:a16="http://schemas.microsoft.com/office/drawing/2014/main" id="{D7232812-76E5-1FE2-426B-B0F96B802FBC}"/>
              </a:ext>
            </a:extLst>
          </p:cNvPr>
          <p:cNvSpPr txBox="1"/>
          <p:nvPr/>
        </p:nvSpPr>
        <p:spPr>
          <a:xfrm>
            <a:off x="5622538" y="2362190"/>
            <a:ext cx="331526" cy="338554"/>
          </a:xfrm>
          <a:prstGeom prst="rect">
            <a:avLst/>
          </a:prstGeom>
          <a:noFill/>
        </p:spPr>
        <p:txBody>
          <a:bodyPr wrap="square" rtlCol="0">
            <a:spAutoFit/>
          </a:bodyPr>
          <a:lstStyle/>
          <a:p>
            <a:r>
              <a:rPr lang="en-US" sz="1600" dirty="0"/>
              <a:t>2</a:t>
            </a:r>
          </a:p>
        </p:txBody>
      </p:sp>
      <p:sp>
        <p:nvSpPr>
          <p:cNvPr id="66" name="TextBox 65">
            <a:extLst>
              <a:ext uri="{FF2B5EF4-FFF2-40B4-BE49-F238E27FC236}">
                <a16:creationId xmlns:a16="http://schemas.microsoft.com/office/drawing/2014/main" id="{015ADAB2-49A2-7946-956D-A54EEA9DB2DD}"/>
              </a:ext>
            </a:extLst>
          </p:cNvPr>
          <p:cNvSpPr txBox="1"/>
          <p:nvPr/>
        </p:nvSpPr>
        <p:spPr>
          <a:xfrm>
            <a:off x="4749137" y="4226569"/>
            <a:ext cx="331526" cy="338554"/>
          </a:xfrm>
          <a:prstGeom prst="rect">
            <a:avLst/>
          </a:prstGeom>
          <a:noFill/>
        </p:spPr>
        <p:txBody>
          <a:bodyPr wrap="square" rtlCol="0">
            <a:spAutoFit/>
          </a:bodyPr>
          <a:lstStyle/>
          <a:p>
            <a:r>
              <a:rPr lang="en-US" sz="1600" dirty="0"/>
              <a:t>3</a:t>
            </a:r>
          </a:p>
        </p:txBody>
      </p:sp>
      <p:sp>
        <p:nvSpPr>
          <p:cNvPr id="67" name="TextBox 66">
            <a:extLst>
              <a:ext uri="{FF2B5EF4-FFF2-40B4-BE49-F238E27FC236}">
                <a16:creationId xmlns:a16="http://schemas.microsoft.com/office/drawing/2014/main" id="{E54310D9-5233-9F51-F8F2-3ACAFC540A0D}"/>
              </a:ext>
            </a:extLst>
          </p:cNvPr>
          <p:cNvSpPr txBox="1"/>
          <p:nvPr/>
        </p:nvSpPr>
        <p:spPr>
          <a:xfrm>
            <a:off x="5887018" y="4752969"/>
            <a:ext cx="331526" cy="338554"/>
          </a:xfrm>
          <a:prstGeom prst="rect">
            <a:avLst/>
          </a:prstGeom>
          <a:noFill/>
        </p:spPr>
        <p:txBody>
          <a:bodyPr wrap="square" rtlCol="0">
            <a:spAutoFit/>
          </a:bodyPr>
          <a:lstStyle/>
          <a:p>
            <a:r>
              <a:rPr lang="en-US" sz="1600" dirty="0"/>
              <a:t>4</a:t>
            </a:r>
          </a:p>
        </p:txBody>
      </p:sp>
      <p:sp>
        <p:nvSpPr>
          <p:cNvPr id="68" name="Rectangle 67">
            <a:extLst>
              <a:ext uri="{FF2B5EF4-FFF2-40B4-BE49-F238E27FC236}">
                <a16:creationId xmlns:a16="http://schemas.microsoft.com/office/drawing/2014/main" id="{F71EEC52-26DD-BDD5-9A15-E137AC6BC089}"/>
              </a:ext>
            </a:extLst>
          </p:cNvPr>
          <p:cNvSpPr/>
          <p:nvPr/>
        </p:nvSpPr>
        <p:spPr>
          <a:xfrm>
            <a:off x="1778160" y="3981981"/>
            <a:ext cx="1199677" cy="1166284"/>
          </a:xfrm>
          <a:prstGeom prst="rect">
            <a:avLst/>
          </a:prstGeom>
          <a:solidFill>
            <a:schemeClr val="tx2">
              <a:lumMod val="75000"/>
              <a:lumOff val="25000"/>
            </a:schemeClr>
          </a:solidFill>
          <a:ln w="9525">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63" name="Rectangle 62">
            <a:extLst>
              <a:ext uri="{FF2B5EF4-FFF2-40B4-BE49-F238E27FC236}">
                <a16:creationId xmlns:a16="http://schemas.microsoft.com/office/drawing/2014/main" id="{ED218A30-A676-1E75-11CF-B16BE8CFCE02}"/>
              </a:ext>
            </a:extLst>
          </p:cNvPr>
          <p:cNvSpPr/>
          <p:nvPr/>
        </p:nvSpPr>
        <p:spPr>
          <a:xfrm>
            <a:off x="1785948" y="3981981"/>
            <a:ext cx="1199677" cy="1166284"/>
          </a:xfrm>
          <a:prstGeom prst="rect">
            <a:avLst/>
          </a:prstGeom>
          <a:solidFill>
            <a:schemeClr val="tx2">
              <a:lumMod val="75000"/>
              <a:lumOff val="25000"/>
            </a:schemeClr>
          </a:solidFill>
          <a:ln w="9525">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800" b="1" dirty="0">
                <a:solidFill>
                  <a:schemeClr val="bg1"/>
                </a:solidFill>
              </a:rPr>
              <a:t>TOOLS</a:t>
            </a:r>
            <a:br>
              <a:rPr lang="en-IN" sz="800" b="1" dirty="0">
                <a:solidFill>
                  <a:schemeClr val="bg1"/>
                </a:solidFill>
              </a:rPr>
            </a:br>
            <a:endParaRPr lang="en-IN" sz="800" b="1" dirty="0">
              <a:solidFill>
                <a:schemeClr val="bg1"/>
              </a:solidFill>
            </a:endParaRPr>
          </a:p>
          <a:p>
            <a:pPr marL="171450" indent="-171450">
              <a:buFont typeface="Arial" panose="020B0604020202020204" pitchFamily="34" charset="0"/>
              <a:buChar char="•"/>
            </a:pPr>
            <a:r>
              <a:rPr lang="en-IN" sz="800" dirty="0">
                <a:solidFill>
                  <a:schemeClr val="bg1"/>
                </a:solidFill>
              </a:rPr>
              <a:t>searchHotels</a:t>
            </a:r>
          </a:p>
          <a:p>
            <a:pPr marL="171450" indent="-171450">
              <a:buFont typeface="Arial" panose="020B0604020202020204" pitchFamily="34" charset="0"/>
              <a:buChar char="•"/>
            </a:pPr>
            <a:r>
              <a:rPr lang="en-IN" sz="800" dirty="0">
                <a:solidFill>
                  <a:schemeClr val="bg1"/>
                </a:solidFill>
              </a:rPr>
              <a:t>getHotelDetails</a:t>
            </a:r>
          </a:p>
          <a:p>
            <a:pPr marL="171450" indent="-171450">
              <a:buFont typeface="Arial" panose="020B0604020202020204" pitchFamily="34" charset="0"/>
              <a:buChar char="•"/>
            </a:pPr>
            <a:r>
              <a:rPr lang="en-IN" sz="800" dirty="0">
                <a:solidFill>
                  <a:schemeClr val="bg1"/>
                </a:solidFill>
              </a:rPr>
              <a:t>createBooking</a:t>
            </a:r>
          </a:p>
          <a:p>
            <a:pPr marL="171450" indent="-171450">
              <a:buFont typeface="Arial" panose="020B0604020202020204" pitchFamily="34" charset="0"/>
              <a:buChar char="•"/>
            </a:pPr>
            <a:r>
              <a:rPr lang="en-IN" sz="800" dirty="0">
                <a:solidFill>
                  <a:schemeClr val="bg1"/>
                </a:solidFill>
              </a:rPr>
              <a:t>cancelBooking</a:t>
            </a:r>
          </a:p>
          <a:p>
            <a:pPr marL="171450" indent="-171450">
              <a:buFont typeface="Arial" panose="020B0604020202020204" pitchFamily="34" charset="0"/>
              <a:buChar char="•"/>
            </a:pPr>
            <a:r>
              <a:rPr lang="en-IN" sz="800" dirty="0">
                <a:solidFill>
                  <a:schemeClr val="bg1"/>
                </a:solidFill>
              </a:rPr>
              <a:t>getBookingStatus</a:t>
            </a:r>
            <a:endParaRPr lang="en-US" dirty="0">
              <a:solidFill>
                <a:schemeClr val="bg1"/>
              </a:solidFill>
            </a:endParaRPr>
          </a:p>
        </p:txBody>
      </p:sp>
      <p:sp>
        <p:nvSpPr>
          <p:cNvPr id="69" name="TextBox 68">
            <a:extLst>
              <a:ext uri="{FF2B5EF4-FFF2-40B4-BE49-F238E27FC236}">
                <a16:creationId xmlns:a16="http://schemas.microsoft.com/office/drawing/2014/main" id="{A1C87108-8287-14A5-4A8F-5E40270448A9}"/>
              </a:ext>
            </a:extLst>
          </p:cNvPr>
          <p:cNvSpPr txBox="1"/>
          <p:nvPr/>
        </p:nvSpPr>
        <p:spPr>
          <a:xfrm>
            <a:off x="370778" y="247998"/>
            <a:ext cx="6094140" cy="461665"/>
          </a:xfrm>
          <a:prstGeom prst="rect">
            <a:avLst/>
          </a:prstGeom>
          <a:noFill/>
        </p:spPr>
        <p:txBody>
          <a:bodyPr wrap="square">
            <a:spAutoFit/>
          </a:bodyPr>
          <a:lstStyle/>
          <a:p>
            <a:pPr algn="l">
              <a:buNone/>
            </a:pPr>
            <a:r>
              <a:rPr lang="en-IN" sz="2400" b="1" dirty="0">
                <a:solidFill>
                  <a:schemeClr val="accent1"/>
                </a:solidFill>
              </a:rPr>
              <a:t>A2A – Communication</a:t>
            </a:r>
          </a:p>
        </p:txBody>
      </p:sp>
    </p:spTree>
    <p:extLst>
      <p:ext uri="{BB962C8B-B14F-4D97-AF65-F5344CB8AC3E}">
        <p14:creationId xmlns:p14="http://schemas.microsoft.com/office/powerpoint/2010/main" val="2277006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additive="base">
                                        <p:cTn id="7" dur="500"/>
                                        <p:tgtEl>
                                          <p:spTgt spid="55"/>
                                        </p:tgtEl>
                                        <p:attrNameLst>
                                          <p:attrName>ppt_y</p:attrName>
                                        </p:attrNameLst>
                                      </p:cBhvr>
                                      <p:tavLst>
                                        <p:tav tm="0">
                                          <p:val>
                                            <p:strVal val="#ppt_y+#ppt_h*1.125000"/>
                                          </p:val>
                                        </p:tav>
                                        <p:tav tm="100000">
                                          <p:val>
                                            <p:strVal val="#ppt_y"/>
                                          </p:val>
                                        </p:tav>
                                      </p:tavLst>
                                    </p:anim>
                                    <p:animEffect transition="in" filter="wipe(up)">
                                      <p:cBhvr>
                                        <p:cTn id="8" dur="500"/>
                                        <p:tgtEl>
                                          <p:spTgt spid="55"/>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64"/>
                                        </p:tgtEl>
                                        <p:attrNameLst>
                                          <p:attrName>style.visibility</p:attrName>
                                        </p:attrNameLst>
                                      </p:cBhvr>
                                      <p:to>
                                        <p:strVal val="visible"/>
                                      </p:to>
                                    </p:set>
                                    <p:anim calcmode="lin" valueType="num">
                                      <p:cBhvr additive="base">
                                        <p:cTn id="11" dur="500"/>
                                        <p:tgtEl>
                                          <p:spTgt spid="64"/>
                                        </p:tgtEl>
                                        <p:attrNameLst>
                                          <p:attrName>ppt_y</p:attrName>
                                        </p:attrNameLst>
                                      </p:cBhvr>
                                      <p:tavLst>
                                        <p:tav tm="0">
                                          <p:val>
                                            <p:strVal val="#ppt_y+#ppt_h*1.125000"/>
                                          </p:val>
                                        </p:tav>
                                        <p:tav tm="100000">
                                          <p:val>
                                            <p:strVal val="#ppt_y"/>
                                          </p:val>
                                        </p:tav>
                                      </p:tavLst>
                                    </p:anim>
                                    <p:animEffect transition="in" filter="wipe(up)">
                                      <p:cBhvr>
                                        <p:cTn id="12" dur="500"/>
                                        <p:tgtEl>
                                          <p:spTgt spid="64"/>
                                        </p:tgtEl>
                                      </p:cBhvr>
                                    </p:animEffect>
                                  </p:childTnLst>
                                </p:cTn>
                              </p:par>
                              <p:par>
                                <p:cTn id="13" presetID="12" presetClass="entr" presetSubtype="4" fill="hold" nodeType="withEffect">
                                  <p:stCondLst>
                                    <p:cond delay="0"/>
                                  </p:stCondLst>
                                  <p:childTnLst>
                                    <p:set>
                                      <p:cBhvr>
                                        <p:cTn id="14" dur="1" fill="hold">
                                          <p:stCondLst>
                                            <p:cond delay="0"/>
                                          </p:stCondLst>
                                        </p:cTn>
                                        <p:tgtEl>
                                          <p:spTgt spid="47"/>
                                        </p:tgtEl>
                                        <p:attrNameLst>
                                          <p:attrName>style.visibility</p:attrName>
                                        </p:attrNameLst>
                                      </p:cBhvr>
                                      <p:to>
                                        <p:strVal val="visible"/>
                                      </p:to>
                                    </p:set>
                                    <p:anim calcmode="lin" valueType="num">
                                      <p:cBhvr additive="base">
                                        <p:cTn id="15" dur="500"/>
                                        <p:tgtEl>
                                          <p:spTgt spid="47"/>
                                        </p:tgtEl>
                                        <p:attrNameLst>
                                          <p:attrName>ppt_y</p:attrName>
                                        </p:attrNameLst>
                                      </p:cBhvr>
                                      <p:tavLst>
                                        <p:tav tm="0">
                                          <p:val>
                                            <p:strVal val="#ppt_y+#ppt_h*1.125000"/>
                                          </p:val>
                                        </p:tav>
                                        <p:tav tm="100000">
                                          <p:val>
                                            <p:strVal val="#ppt_y"/>
                                          </p:val>
                                        </p:tav>
                                      </p:tavLst>
                                    </p:anim>
                                    <p:animEffect transition="in" filter="wipe(up)">
                                      <p:cBhvr>
                                        <p:cTn id="16" dur="500"/>
                                        <p:tgtEl>
                                          <p:spTgt spid="47"/>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63"/>
                                        </p:tgtEl>
                                        <p:attrNameLst>
                                          <p:attrName>style.visibility</p:attrName>
                                        </p:attrNameLst>
                                      </p:cBhvr>
                                      <p:to>
                                        <p:strVal val="visible"/>
                                      </p:to>
                                    </p:set>
                                    <p:anim calcmode="lin" valueType="num">
                                      <p:cBhvr additive="base">
                                        <p:cTn id="29" dur="500" fill="hold"/>
                                        <p:tgtEl>
                                          <p:spTgt spid="63"/>
                                        </p:tgtEl>
                                        <p:attrNameLst>
                                          <p:attrName>ppt_x</p:attrName>
                                        </p:attrNameLst>
                                      </p:cBhvr>
                                      <p:tavLst>
                                        <p:tav tm="0">
                                          <p:val>
                                            <p:strVal val="#ppt_x"/>
                                          </p:val>
                                        </p:tav>
                                        <p:tav tm="100000">
                                          <p:val>
                                            <p:strVal val="#ppt_x"/>
                                          </p:val>
                                        </p:tav>
                                      </p:tavLst>
                                    </p:anim>
                                    <p:anim calcmode="lin" valueType="num">
                                      <p:cBhvr additive="base">
                                        <p:cTn id="30" dur="500" fill="hold"/>
                                        <p:tgtEl>
                                          <p:spTgt spid="63"/>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66"/>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5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6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p:bldP spid="59" grpId="0" animBg="1"/>
      <p:bldP spid="60" grpId="0"/>
      <p:bldP spid="61" grpId="0"/>
      <p:bldP spid="64" grpId="0"/>
      <p:bldP spid="65" grpId="0"/>
      <p:bldP spid="66" grpId="0"/>
      <p:bldP spid="67" grpId="0"/>
      <p:bldP spid="6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B339D-1942-0166-035F-46F7BB71457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921F533-55C3-CB27-37EA-D0236E5DF537}"/>
              </a:ext>
            </a:extLst>
          </p:cNvPr>
          <p:cNvPicPr>
            <a:picLocks noChangeAspect="1"/>
          </p:cNvPicPr>
          <p:nvPr/>
        </p:nvPicPr>
        <p:blipFill>
          <a:blip r:embed="rId3"/>
          <a:stretch>
            <a:fillRect/>
          </a:stretch>
        </p:blipFill>
        <p:spPr>
          <a:xfrm>
            <a:off x="353290" y="569655"/>
            <a:ext cx="9409545" cy="5402514"/>
          </a:xfrm>
          <a:prstGeom prst="rect">
            <a:avLst/>
          </a:prstGeom>
        </p:spPr>
      </p:pic>
    </p:spTree>
    <p:extLst>
      <p:ext uri="{BB962C8B-B14F-4D97-AF65-F5344CB8AC3E}">
        <p14:creationId xmlns:p14="http://schemas.microsoft.com/office/powerpoint/2010/main" val="17937585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69204C-49CB-08CA-3827-20A6EBB2585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09C310A-1CA0-0E70-8762-BEB82F423E52}"/>
              </a:ext>
            </a:extLst>
          </p:cNvPr>
          <p:cNvSpPr txBox="1"/>
          <p:nvPr/>
        </p:nvSpPr>
        <p:spPr>
          <a:xfrm>
            <a:off x="5077423" y="2659559"/>
            <a:ext cx="2037153" cy="769441"/>
          </a:xfrm>
          <a:prstGeom prst="rect">
            <a:avLst/>
          </a:prstGeom>
          <a:noFill/>
        </p:spPr>
        <p:txBody>
          <a:bodyPr wrap="square" rtlCol="0">
            <a:spAutoFit/>
          </a:bodyPr>
          <a:lstStyle/>
          <a:p>
            <a:r>
              <a:rPr lang="en-US" sz="4400" b="1" dirty="0">
                <a:solidFill>
                  <a:schemeClr val="accent2"/>
                </a:solidFill>
                <a:latin typeface="72 Brand" panose="020B0504030603020204" pitchFamily="34" charset="0"/>
              </a:rPr>
              <a:t>Demo</a:t>
            </a:r>
          </a:p>
        </p:txBody>
      </p:sp>
    </p:spTree>
    <p:extLst>
      <p:ext uri="{BB962C8B-B14F-4D97-AF65-F5344CB8AC3E}">
        <p14:creationId xmlns:p14="http://schemas.microsoft.com/office/powerpoint/2010/main" val="10876096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DDE5D0-257C-7C50-632E-5B0391ED48C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89387D8-142B-0EDB-DA3E-DDC10D6C528E}"/>
              </a:ext>
            </a:extLst>
          </p:cNvPr>
          <p:cNvSpPr txBox="1"/>
          <p:nvPr/>
        </p:nvSpPr>
        <p:spPr>
          <a:xfrm>
            <a:off x="4497462" y="2659559"/>
            <a:ext cx="3197075" cy="769441"/>
          </a:xfrm>
          <a:prstGeom prst="rect">
            <a:avLst/>
          </a:prstGeom>
          <a:noFill/>
        </p:spPr>
        <p:txBody>
          <a:bodyPr wrap="square" rtlCol="0">
            <a:spAutoFit/>
          </a:bodyPr>
          <a:lstStyle/>
          <a:p>
            <a:r>
              <a:rPr lang="en-US" sz="4400" b="1" dirty="0">
                <a:solidFill>
                  <a:schemeClr val="accent2"/>
                </a:solidFill>
                <a:latin typeface="72 Brand" panose="020B0504030603020204" pitchFamily="34" charset="0"/>
              </a:rPr>
              <a:t>Thank You</a:t>
            </a:r>
          </a:p>
        </p:txBody>
      </p:sp>
    </p:spTree>
    <p:extLst>
      <p:ext uri="{BB962C8B-B14F-4D97-AF65-F5344CB8AC3E}">
        <p14:creationId xmlns:p14="http://schemas.microsoft.com/office/powerpoint/2010/main" val="19253326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B61686DB-FFF8-6341-84F2-667907B51B28}">
  <we:reference id="b0692d11-e342-a550-cfba-e8c57e47b8f1" version="2.0.0.5" store="EXCatalog" storeType="EXCatalog"/>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TemplafySlideTemplateConfiguration><![CDATA[{"slideVersion":20,"isValidatorEnabled":false,"isLocked":false,"elementsMetadata":[{"type":"shape","elementConfiguration":{"binding":"{{StringJoin(\", \", Form.SpeakerName,\"SAP\")}}","type":"text","disableUpdates":false}},{"type":"shape","elementConfiguration":{"binding":"{{FormatDateTime(Form.Date,\"MMMM dd, yyyy\",\"en-US\")}}","type":"text","disableUpdates":false}},{"type":"shape","elementConfiguration":{"inheritDimensions":"{{InheritDimensions.InheritNone}}","width":"","height":"1 cm","image":"{{Form.SAPLogo.SubbrandBlue}}","visibility":"","type":"image","disableUpdates":false}},{"type":"shape","elementConfiguration":{"binding":"{{Form.Classification.Display}}","visibility":"","type":"text","disableUpdates":false}}],"slideId":"638331234101560684","enableDocumentContentUpdater":false,"version":"2.0"}]]></TemplafySlideTemplateConfiguration>
</file>

<file path=customXml/item2.xml><?xml version="1.0" encoding="utf-8"?>
<TemplafySlideFormConfiguration><![CDATA[{"formFields":[{"distinct":false,"hideIfNoUserInteractionRequired":false,"required":true,"autoSelectFirstOption":false,"shareValue":false,"type":"dropDown","dataSourceName":"PPTSubBrandLogos2023","dataSourceFieldName":"Name","name":"SAPLogo","label":"Select Template"},{"distinct":false,"hideIfNoUserInteractionRequired":false,"required":true,"autoSelectFirstOption":false,"shareValue":false,"type":"dropDown","dataSourceName":"Classification","dataSourceFieldName":"Name","name":"Classification","label":"Select Classification"},{"required":false,"shareValue":false,"type":"datePicker","name":"Date","label":"Date"},{"required":false,"placeholder":"","lines":1,"defaultValue":"{{StringJoin(\" \", UserProfile.FirstName,UserProfile.LastName)}}","helpTexts":{"prefix":"After your name, include your preferred pronouns (they/them, she/her, he/him)."},"shareValue":false,"type":"textBox","name":"SpeakerName","label":"Name and Pronouns"}],"formDataEntries":[]}]]></TemplafySlideFormConfiguration>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e498c685-4887-43bf-8f8f-241d11fd8e0d" xsi:nil="true"/>
    <lcf76f155ced4ddcb4097134ff3c332f xmlns="f143c328-c9d5-47eb-bfdb-65d71f7d4a39">
      <Terms xmlns="http://schemas.microsoft.com/office/infopath/2007/PartnerControls"/>
    </lcf76f155ced4ddcb4097134ff3c332f>
  </documentManagement>
</p:properties>
</file>

<file path=customXml/item4.xml><?xml version="1.0" encoding="utf-8"?>
<?mso-contentType ?>
<FormTemplates xmlns="http://schemas.microsoft.com/sharepoint/v3/contenttype/forms">
  <Display>DocumentLibraryForm</Display>
  <Edit>DocumentLibraryForm</Edit>
  <New>DocumentLibraryForm</New>
</FormTemplates>
</file>

<file path=customXml/item5.xml><?xml version="1.0" encoding="utf-8"?>
<ct:contentTypeSchema xmlns:ct="http://schemas.microsoft.com/office/2006/metadata/contentType" xmlns:ma="http://schemas.microsoft.com/office/2006/metadata/properties/metaAttributes" ct:_="" ma:_="" ma:contentTypeName="Document" ma:contentTypeID="0x010100BC60EB370C4B6F4B9DC65F9732C9A21E" ma:contentTypeVersion="18" ma:contentTypeDescription="Create a new document." ma:contentTypeScope="" ma:versionID="d8f22586c3887a8dad197f0da865b903">
  <xsd:schema xmlns:xsd="http://www.w3.org/2001/XMLSchema" xmlns:xs="http://www.w3.org/2001/XMLSchema" xmlns:p="http://schemas.microsoft.com/office/2006/metadata/properties" xmlns:ns1="http://schemas.microsoft.com/sharepoint/v3" xmlns:ns2="f143c328-c9d5-47eb-bfdb-65d71f7d4a39" xmlns:ns3="e498c685-4887-43bf-8f8f-241d11fd8e0d" targetNamespace="http://schemas.microsoft.com/office/2006/metadata/properties" ma:root="true" ma:fieldsID="90e03bf13dfc2146b6f2b675f8a62b53" ns1:_="" ns2:_="" ns3:_="">
    <xsd:import namespace="http://schemas.microsoft.com/sharepoint/v3"/>
    <xsd:import namespace="f143c328-c9d5-47eb-bfdb-65d71f7d4a39"/>
    <xsd:import namespace="e498c685-4887-43bf-8f8f-241d11fd8e0d"/>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ServiceLocation" minOccurs="0"/>
                <xsd:element ref="ns2:MediaServiceSearchProperties" minOccurs="0"/>
                <xsd:element ref="ns2:MediaServiceBillingMetadata"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4" nillable="true" ma:displayName="Unified Compliance Policy Properties" ma:hidden="true" ma:internalName="_ip_UnifiedCompliancePolicyProperties">
      <xsd:simpleType>
        <xsd:restriction base="dms:Note"/>
      </xsd:simpleType>
    </xsd:element>
    <xsd:element name="_ip_UnifiedCompliancePolicyUIAction" ma:index="25"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143c328-c9d5-47eb-bfdb-65d71f7d4a3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LengthInSeconds" ma:index="12"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c7b3fb9d-ee0a-40a8-bd42-4026b75186d8" ma:termSetId="09814cd3-568e-fe90-9814-8d621ff8fb84" ma:anchorId="fba54fb3-c3e1-fe81-a776-ca4b69148c4d" ma:open="true" ma:isKeyword="false">
      <xsd:complexType>
        <xsd:sequence>
          <xsd:element ref="pc:Terms" minOccurs="0" maxOccurs="1"/>
        </xsd:sequence>
      </xsd:complex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Location" ma:index="21" nillable="true" ma:displayName="Location" ma:indexed="true" ma:internalName="MediaServiceLocation"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498c685-4887-43bf-8f8f-241d11fd8e0d"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17" nillable="true" ma:displayName="Taxonomy Catch All Column" ma:hidden="true" ma:list="{b3944e1c-3bd1-4add-976a-7fb896e520a9}" ma:internalName="TaxCatchAll" ma:showField="CatchAllData" ma:web="e498c685-4887-43bf-8f8f-241d11fd8e0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444086E-23D4-43AE-9B84-AA7543534A61}">
  <ds:schemaRefs/>
</ds:datastoreItem>
</file>

<file path=customXml/itemProps2.xml><?xml version="1.0" encoding="utf-8"?>
<ds:datastoreItem xmlns:ds="http://schemas.openxmlformats.org/officeDocument/2006/customXml" ds:itemID="{5E726EAB-FE30-4F4D-A478-DE4759D9A12E}">
  <ds:schemaRefs/>
</ds:datastoreItem>
</file>

<file path=customXml/itemProps3.xml><?xml version="1.0" encoding="utf-8"?>
<ds:datastoreItem xmlns:ds="http://schemas.openxmlformats.org/officeDocument/2006/customXml" ds:itemID="{D4C49D18-851B-4D16-96B3-090C2314DCA3}">
  <ds:schemaRefs>
    <ds:schemaRef ds:uri="http://www.w3.org/XML/1998/namespace"/>
    <ds:schemaRef ds:uri="f143c328-c9d5-47eb-bfdb-65d71f7d4a39"/>
    <ds:schemaRef ds:uri="http://purl.org/dc/elements/1.1/"/>
    <ds:schemaRef ds:uri="http://schemas.microsoft.com/office/2006/metadata/properties"/>
    <ds:schemaRef ds:uri="http://purl.org/dc/terms/"/>
    <ds:schemaRef ds:uri="http://purl.org/dc/dcmitype/"/>
    <ds:schemaRef ds:uri="http://schemas.microsoft.com/office/2006/documentManagement/types"/>
    <ds:schemaRef ds:uri="http://schemas.openxmlformats.org/package/2006/metadata/core-properties"/>
    <ds:schemaRef ds:uri="http://schemas.microsoft.com/office/infopath/2007/PartnerControls"/>
    <ds:schemaRef ds:uri="e498c685-4887-43bf-8f8f-241d11fd8e0d"/>
    <ds:schemaRef ds:uri="http://schemas.microsoft.com/sharepoint/v3"/>
  </ds:schemaRefs>
</ds:datastoreItem>
</file>

<file path=customXml/itemProps4.xml><?xml version="1.0" encoding="utf-8"?>
<ds:datastoreItem xmlns:ds="http://schemas.openxmlformats.org/officeDocument/2006/customXml" ds:itemID="{70808CBA-DAC1-4F9A-891A-2AFDE871C1EA}">
  <ds:schemaRefs>
    <ds:schemaRef ds:uri="http://schemas.microsoft.com/sharepoint/v3/contenttype/forms"/>
  </ds:schemaRefs>
</ds:datastoreItem>
</file>

<file path=customXml/itemProps5.xml><?xml version="1.0" encoding="utf-8"?>
<ds:datastoreItem xmlns:ds="http://schemas.openxmlformats.org/officeDocument/2006/customXml" ds:itemID="{8593D34E-2DE1-4755-A5B8-3087CBEE48CF}">
  <ds:schemaRefs>
    <ds:schemaRef ds:uri="e498c685-4887-43bf-8f8f-241d11fd8e0d"/>
    <ds:schemaRef ds:uri="f143c328-c9d5-47eb-bfdb-65d71f7d4a3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0cf7ac0a-4681-4823-ab0b-04ef02c5f873}" enabled="1" method="Standard" siteId="{42f7676c-f455-423c-82f6-dc2d99791af7}" removed="0"/>
</clbl:labelList>
</file>

<file path=docProps/app.xml><?xml version="1.0" encoding="utf-8"?>
<Properties xmlns="http://schemas.openxmlformats.org/officeDocument/2006/extended-properties" xmlns:vt="http://schemas.openxmlformats.org/officeDocument/2006/docPropsVTypes">
  <TotalTime>4401</TotalTime>
  <Words>991</Words>
  <Application>Microsoft Macintosh PowerPoint</Application>
  <PresentationFormat>Widescreen</PresentationFormat>
  <Paragraphs>110</Paragraphs>
  <Slides>11</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72 Brand</vt:lpstr>
      <vt:lpstr>72 Brand Medium</vt:lpstr>
      <vt:lpstr>Aptos</vt:lpstr>
      <vt:lpstr>Aptos Display</vt:lpstr>
      <vt:lpstr>Arial</vt:lpstr>
      <vt:lpstr>Google Sans</vt:lpstr>
      <vt:lpstr>Office Theme</vt:lpstr>
      <vt:lpstr>A2A Protocol (Agent to Agent)  Overview</vt:lpstr>
      <vt:lpstr>Disclaimer</vt:lpstr>
      <vt:lpstr>PowerPoint Presentation</vt:lpstr>
      <vt:lpstr>PowerPoint Presentation</vt:lpstr>
      <vt:lpstr>A solution with A2A</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Nayak, Ganesh</dc:creator>
  <cp:keywords/>
  <dc:description/>
  <cp:lastModifiedBy>Shanbhag, Mangesh</cp:lastModifiedBy>
  <cp:revision>2</cp:revision>
  <dcterms:created xsi:type="dcterms:W3CDTF">2025-03-27T05:33:48Z</dcterms:created>
  <dcterms:modified xsi:type="dcterms:W3CDTF">2025-11-11T09:40:12Z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0x010100BC60EB370C4B6F4B9DC65F9732C9A21E</vt:lpwstr>
  </property>
  <property fmtid="{D5CDD505-2E9C-101B-9397-08002B2CF9AE}" pid="3" name="MediaServiceImageTags">
    <vt:lpwstr/>
  </property>
</Properties>
</file>